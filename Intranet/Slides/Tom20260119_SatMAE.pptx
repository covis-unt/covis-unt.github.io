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379" r:id="rId2"/>
    <p:sldId id="432" r:id="rId3"/>
    <p:sldId id="433" r:id="rId4"/>
    <p:sldId id="434" r:id="rId5"/>
    <p:sldId id="435" r:id="rId6"/>
    <p:sldId id="436" r:id="rId7"/>
    <p:sldId id="437" r:id="rId8"/>
    <p:sldId id="450" r:id="rId9"/>
    <p:sldId id="438" r:id="rId10"/>
    <p:sldId id="439" r:id="rId11"/>
    <p:sldId id="451" r:id="rId12"/>
    <p:sldId id="440" r:id="rId13"/>
    <p:sldId id="441" r:id="rId14"/>
    <p:sldId id="442" r:id="rId15"/>
    <p:sldId id="452" r:id="rId16"/>
    <p:sldId id="444" r:id="rId17"/>
    <p:sldId id="445" r:id="rId18"/>
    <p:sldId id="453" r:id="rId19"/>
    <p:sldId id="456" r:id="rId20"/>
    <p:sldId id="447" r:id="rId21"/>
    <p:sldId id="454" r:id="rId22"/>
    <p:sldId id="448" r:id="rId23"/>
    <p:sldId id="449" r:id="rId24"/>
    <p:sldId id="455" r:id="rId25"/>
    <p:sldId id="45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729"/>
    <a:srgbClr val="145A14"/>
    <a:srgbClr val="236423"/>
    <a:srgbClr val="29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3FD65-1510-B525-88E8-434CC7C4F8CB}" v="1102" dt="2026-01-18T04:19:02.438"/>
    <p1510:client id="{B695CFB2-8127-9162-9259-7145A3422132}" v="1975" dt="2026-01-18T03:14:26.112"/>
    <p1510:client id="{F8C42C7A-A88B-58A4-4690-C6C9B113AFED}" v="54" dt="2026-01-17T22:06:14.4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43" autoAdjust="0"/>
    <p:restoredTop sz="93004" autoAdjust="0"/>
  </p:normalViewPr>
  <p:slideViewPr>
    <p:cSldViewPr snapToGrid="0">
      <p:cViewPr varScale="1">
        <p:scale>
          <a:sx n="135" d="100"/>
          <a:sy n="135" d="100"/>
        </p:scale>
        <p:origin x="9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7E834-C4A8-4B30-8234-E597CECA3FD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4D784-8A11-4578-9B5B-21FFF947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AFF4-1FA5-4D56-9D9C-C8DDF3508A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2"/>
            <a:ext cx="9144000" cy="314483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of the paper</a:t>
            </a:r>
            <a:br>
              <a:rPr lang="en-US" dirty="0"/>
            </a:br>
            <a:r>
              <a:rPr lang="en-US" dirty="0"/>
              <a:t>authors</a:t>
            </a:r>
            <a:br>
              <a:rPr lang="en-US" dirty="0"/>
            </a:br>
            <a:r>
              <a:rPr lang="en-US" dirty="0"/>
              <a:t>journal/conference, volume, issue, year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B35512-EAE6-213E-2789-4B7268C78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514850"/>
            <a:ext cx="9144000" cy="13049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spcBef>
                <a:spcPts val="1200"/>
              </a:spcBef>
            </a:pPr>
            <a:r>
              <a:rPr lang="en-US" sz="2800" dirty="0"/>
              <a:t>Presented by &lt;Your Name&gt;</a:t>
            </a:r>
          </a:p>
        </p:txBody>
      </p:sp>
    </p:spTree>
    <p:extLst>
      <p:ext uri="{BB962C8B-B14F-4D97-AF65-F5344CB8AC3E}">
        <p14:creationId xmlns:p14="http://schemas.microsoft.com/office/powerpoint/2010/main" val="27014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CBAF-FD17-4556-B563-9F17E08F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2DE8-6B39-47B0-86A0-C2627A2D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D1E4-D14B-4138-B4AC-D78B5E24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615-E7B9-4366-9538-68B6E950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24F4-12C2-47D2-8046-AD0B98AB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C2CFD-B6F9-24A5-223A-A6BCCAD4140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B06F1-BF5D-3669-653C-BBC2ED18825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1/17/2026 7:15 PM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EFEB18-E03B-55E5-9BA2-C341E7CEFE0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DF5A49C-D9FD-6997-755D-B6F13BC5A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E6B1-FD2B-4042-9497-7FCF9F46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1D52-664D-4745-91E9-0C359294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833E3-135F-4743-AD4B-CF0598EE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391-1657-4A8E-8C53-A4EF72DA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E976-25AB-4AE2-A7BE-ED6D08F4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7650B-AE0B-4FFC-F612-D9CDA07C998F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81A08A-38F5-6E09-3069-EDA313CB4238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1/17/2026 7:15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BECCC4-D2F9-0475-0FB1-EF1A481C18F2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D1BC5C6-7516-C430-6BB8-57970560E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6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87A-8E2E-4D68-89BC-6A761E1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087A-B910-4C97-BE78-C1EB7078A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B1C01-0EE1-4479-8FB2-195D9916C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14B5D-B614-4B9F-96DD-CBF2E4D5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2D19C-3FF2-4BD7-85E1-CB5A94C5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066D6-0215-4AEF-A628-4B89070B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BE8935-2869-75C7-ACA8-936F8880078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7DA7235-104C-72E0-37C3-CA20C74031F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1/17/2026 7:15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ED9B8F-B09F-6AE6-964C-24F19627C229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2BDA95C-C6CC-D81F-938B-98595F43DD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3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305D-4D2B-418A-9D97-04BD1499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19EE5-207F-4B02-9B2A-A2027E7B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23649-4890-4861-8B7B-7800F312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31F67-B52B-4E00-889A-8FC942B29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0C1D4-A224-4CFD-9216-C4BD69948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12C2B-9259-4A2E-82EC-7B5976BE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431-8EEA-407B-9149-A4A02E8E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C9DBB-54A4-4E92-9CB0-E19E2E44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686A1-701F-0D34-7499-C848C2FC3846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71E40AE-9729-F84E-6750-A2D023BC4CA6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1/17/2026 7:15 PM</a:t>
            </a:fld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775302-0926-3059-C127-F0DE28BDF3E3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7CFE4A4-E14A-CE83-06BD-93F593631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9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090F-DCC0-44AA-A483-57DFCABA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FBDF8-0F4F-45C4-9937-BD1F873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AC3E7-3004-4863-89B6-1A44540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35DA-C0DD-4150-B5A9-A9E6E9EF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34B97-8568-ADA6-F0AA-DF458BCECA0A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6C3D3D0-2F6E-861F-5724-3535F515D781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1/17/2026 7:15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327F07-E833-BBC3-3623-49EE1CC01B10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C478856-A0DA-7546-1313-CFCBEEAEC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5D3EF-9FB6-4132-85DC-EEAD2F50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BD5C-ED15-43EA-AD5F-83326772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C7B5-4BFE-4FA6-9DCA-9A21C2C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36CDF-8F1A-CD77-75C5-948FB842BE8C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47C745-E936-A259-6814-2BC4C9379209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1/17/2026 7:15 PM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81689D-3C97-CA98-320F-7CAF8100EA8B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BD6CEBF-3B4E-7C6F-D83B-4336AB109B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0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17C7-A42B-45C4-87AE-64DC351D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F77E-68D1-4AD9-9368-40BF04A5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F09A8-2453-438B-9ACE-5F216B0F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7456-AB55-4BB3-A0DE-7A8B5F39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2BEF-F4C0-48EC-A69B-53052D35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4E064-1E51-4E86-8FDE-A378EA70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7D300-A8BF-E8A7-4A10-094313524E2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06C84D-9DC5-4938-9115-E9982A8BC1A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1/17/2026 7:15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B1AE60C-6738-39B6-A7E8-2B325E806B1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C62CD6B-BA98-EA50-A63B-7ABF3ECB8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0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4336-FB41-4746-ADEA-8ACD9012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81518-B6EC-4CBC-9763-F001313C0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BFA5-92FA-4F6F-AB1B-1057FFF4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E83E7-BA52-4C97-B38B-29640A16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55D73-0033-4FDE-837E-FC4B7B9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77E7-AE7F-4FD1-96FA-C681905D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487EF-10E9-20DA-FF7C-3D005EF1E1D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163A4-0F10-32B5-731B-B47A476BC910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1/17/2026 7:15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79B79AA-924B-EA99-5E26-02FEBB622598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A3873B3-BE6D-B997-BB6D-4BADB910C7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04F1-943F-4FEF-BBC8-D6C3B021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ECF8F-A044-4020-BC99-A494CA8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B726-A353-4F79-88EF-F138D365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63AE0-03C3-412E-9855-22C6DA16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2924-7EEA-450D-9658-129C3E1C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C544B-A02A-D6C4-E0B0-DA7E9CAF20D9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8B2CA06-A154-7053-0952-AFCD73BB0D3B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1/17/2026 7:15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75F0140-A426-B598-128C-504028103D6D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67A920C-008D-72C0-9E06-BAB13F0D32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40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9D0F5-3347-48F5-BA20-2268AEC1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54AB-8CFA-4439-93CA-C714665F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BEDC-FCA9-4522-A177-4026B734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7852-BC24-42B3-830C-FEDDDF4B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52F4-01F9-4B9E-8C2A-8741FDB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1EA99-D7B0-AB26-8C59-F166B39C191B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6B22BE-EE45-28DE-51D3-43BDDBE978D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1/17/2026 7:15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7206CF2-9296-D14D-AAD1-C481E8A6E37F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38D72DC-57D0-AB51-3D33-065BAB779F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99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50B4-076C-40D8-915F-F6B6495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9975-F3B1-4D35-A1DA-4D3F4A82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845" y="1480457"/>
            <a:ext cx="11321143" cy="469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1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CVPR52688.2022.01553&#8203;" TargetMode="External"/><Relationship Id="rId2" Type="http://schemas.openxmlformats.org/officeDocument/2006/relationships/hyperlink" Target="https://openreview.net/forum?id=WBhqzpF6KYH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48550/arXiv.2204.01678&#8203;" TargetMode="External"/><Relationship Id="rId4" Type="http://schemas.openxmlformats.org/officeDocument/2006/relationships/hyperlink" Target="https://doi.org/10.48550/arXiv.2203.12602&#8203;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IGARSS.2019.8900532&#8203;" TargetMode="External"/><Relationship Id="rId2" Type="http://schemas.openxmlformats.org/officeDocument/2006/relationships/hyperlink" Target="https://doi.org/10.1109/IGARSS.2018.8519248&#8203;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48550/arXiv.2010.11929" TargetMode="External"/><Relationship Id="rId4" Type="http://schemas.openxmlformats.org/officeDocument/2006/relationships/hyperlink" Target="https://doi.org/10.48550/arXiv.1807.0123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E4C7-97B0-429C-D962-ADA624021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006732"/>
          </a:xfrm>
        </p:spPr>
        <p:txBody>
          <a:bodyPr>
            <a:normAutofit fontScale="90000"/>
          </a:bodyPr>
          <a:lstStyle/>
          <a:p>
            <a:r>
              <a:rPr lang="en-US" err="1">
                <a:ea typeface="Calibri Light"/>
                <a:cs typeface="Calibri Light"/>
              </a:rPr>
              <a:t>SatMAE</a:t>
            </a:r>
            <a:r>
              <a:rPr lang="en-US" dirty="0">
                <a:ea typeface="Calibri Light"/>
                <a:cs typeface="Calibri Light"/>
              </a:rPr>
              <a:t>: Pre-training Transformers for Temporal and Multi-Spectral Satellite Imagery </a:t>
            </a:r>
            <a:r>
              <a:rPr lang="en-US" b="0" dirty="0">
                <a:ea typeface="Calibri Light"/>
                <a:cs typeface="Calibri Light"/>
              </a:rPr>
              <a:t>[1]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D1737-AB5D-3A64-EC0A-632A41F735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3728907"/>
            <a:ext cx="9144000" cy="25041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Yezhen</a:t>
            </a:r>
            <a:r>
              <a:rPr lang="en-US" dirty="0">
                <a:ea typeface="+mn-lt"/>
                <a:cs typeface="+mn-lt"/>
              </a:rPr>
              <a:t> Cong Erik Rozi Samar Khanna Yutong He Marshall Burke </a:t>
            </a:r>
            <a:r>
              <a:rPr lang="en-US" err="1">
                <a:ea typeface="+mn-lt"/>
                <a:cs typeface="+mn-lt"/>
              </a:rPr>
              <a:t>Chenlin</a:t>
            </a:r>
            <a:r>
              <a:rPr lang="en-US" dirty="0">
                <a:ea typeface="+mn-lt"/>
                <a:cs typeface="+mn-lt"/>
              </a:rPr>
              <a:t> Meng David B. Lobell </a:t>
            </a:r>
            <a:r>
              <a:rPr lang="en-US">
                <a:ea typeface="+mn-lt"/>
                <a:cs typeface="+mn-lt"/>
              </a:rPr>
              <a:t>Patrick Liu Stefano Ermon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</a:pPr>
            <a:endParaRPr lang="en-US" dirty="0">
              <a:ea typeface="Calibri" panose="020F0502020204030204"/>
              <a:cs typeface="Calibri Light"/>
            </a:endParaRPr>
          </a:p>
          <a:p>
            <a:pPr>
              <a:spcBef>
                <a:spcPts val="0"/>
              </a:spcBef>
            </a:pPr>
            <a:r>
              <a:rPr lang="en-US" sz="2300">
                <a:ea typeface="+mn-lt"/>
                <a:cs typeface="+mn-lt"/>
              </a:rPr>
              <a:t>Advances in Neural Information Processing Systems (NeurIPS), 2022</a:t>
            </a:r>
            <a:endParaRPr lang="en-US" sz="21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328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0781-B20A-7CC0-C724-79A803506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Why Satellite Imagery is Hard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20234-F2D0-8E1E-D8D5-0C7441A93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Abundant unlabeled data, scarce labeled data</a:t>
            </a:r>
          </a:p>
          <a:p>
            <a:r>
              <a:rPr lang="en-US" dirty="0">
                <a:ea typeface="+mn-lt"/>
                <a:cs typeface="+mn-lt"/>
              </a:rPr>
              <a:t>Labels are expensive and require expertise</a:t>
            </a:r>
          </a:p>
          <a:p>
            <a:r>
              <a:rPr lang="en-US" dirty="0">
                <a:ea typeface="+mn-lt"/>
                <a:cs typeface="+mn-lt"/>
              </a:rPr>
              <a:t>Applications with real-world impact: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Land cover classification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Crop yield prediction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Climate monitoring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Urban development</a:t>
            </a:r>
          </a:p>
        </p:txBody>
      </p:sp>
    </p:spTree>
    <p:extLst>
      <p:ext uri="{BB962C8B-B14F-4D97-AF65-F5344CB8AC3E}">
        <p14:creationId xmlns:p14="http://schemas.microsoft.com/office/powerpoint/2010/main" val="164673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92383-2D69-FBBD-8130-522B9E04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Why Existing SSL Falls Short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C9CEC-4DA1-12A6-75B8-29B976347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Most SSL methods designed for </a:t>
            </a:r>
            <a:r>
              <a:rPr lang="en-US" b="1" dirty="0">
                <a:ea typeface="+mn-lt"/>
                <a:cs typeface="+mn-lt"/>
              </a:rPr>
              <a:t>natural RGB images</a:t>
            </a:r>
            <a:endParaRPr lang="en-US" b="1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Satellite imagery challenges: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Temporal irregularity (long gaps, seasonal change)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Multi-spectral bands (beyond RGB)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Spatial misalignment and resolution differences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Contrastive SSL: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Requires careful positive pair design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Hard to define “same” across time and seasons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2734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08F5-01EA-0C17-FF0C-66CA93C95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Prior Work Landscape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FC575-F400-3D08-04FF-0C91DC7E1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CNN-based SITS models → task-specific, not general-purpose</a:t>
            </a:r>
          </a:p>
          <a:p>
            <a:r>
              <a:rPr lang="en-US" dirty="0">
                <a:ea typeface="+mn-lt"/>
                <a:cs typeface="+mn-lt"/>
              </a:rPr>
              <a:t>Contrastive SSL for satellite imagery → brittle positive pairs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MAE [2] &amp; extensions (</a:t>
            </a:r>
            <a:r>
              <a:rPr lang="en-US" dirty="0" err="1">
                <a:ea typeface="+mn-lt"/>
                <a:cs typeface="+mn-lt"/>
              </a:rPr>
              <a:t>VideoMAE</a:t>
            </a:r>
            <a:r>
              <a:rPr lang="en-US" dirty="0">
                <a:ea typeface="+mn-lt"/>
                <a:cs typeface="+mn-lt"/>
              </a:rPr>
              <a:t> [3], </a:t>
            </a:r>
            <a:r>
              <a:rPr lang="en-US" dirty="0" err="1">
                <a:ea typeface="+mn-lt"/>
                <a:cs typeface="+mn-lt"/>
              </a:rPr>
              <a:t>MultiMAE</a:t>
            </a:r>
            <a:r>
              <a:rPr lang="en-US" dirty="0">
                <a:ea typeface="+mn-lt"/>
                <a:cs typeface="+mn-lt"/>
              </a:rPr>
              <a:t> [4]):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Powerful, but not designed for irregular temporal or spectral data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4613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3A35-57F4-C3C8-78ED-47BD4291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/>
              <a:t>Masked Autoencoders (MAE)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5CC8D-E9F0-9DAB-2A78-048AEB87E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Mask a large fraction of patches</a:t>
            </a:r>
          </a:p>
          <a:p>
            <a:r>
              <a:rPr lang="en-US"/>
              <a:t>Encode only visible patches → efficient</a:t>
            </a:r>
          </a:p>
          <a:p>
            <a:r>
              <a:rPr lang="en-US"/>
              <a:t>Decode full image and reconstruct masked patches</a:t>
            </a:r>
          </a:p>
          <a:p>
            <a:r>
              <a:rPr lang="en-US"/>
              <a:t>No contrastive pairs, minimal augmentations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21CE739-1198-C652-0654-A1B05092C916}"/>
              </a:ext>
            </a:extLst>
          </p:cNvPr>
          <p:cNvGrpSpPr/>
          <p:nvPr/>
        </p:nvGrpSpPr>
        <p:grpSpPr>
          <a:xfrm>
            <a:off x="6172200" y="2321238"/>
            <a:ext cx="5181600" cy="3360112"/>
            <a:chOff x="6172199" y="2582831"/>
            <a:chExt cx="5181601" cy="3360113"/>
          </a:xfrm>
        </p:grpSpPr>
        <p:pic>
          <p:nvPicPr>
            <p:cNvPr id="4" name="Picture 3" descr="A diagram of a decoder&#10;&#10;AI-generated content may be incorrect.">
              <a:extLst>
                <a:ext uri="{FF2B5EF4-FFF2-40B4-BE49-F238E27FC236}">
                  <a16:creationId xmlns:a16="http://schemas.microsoft.com/office/drawing/2014/main" id="{F0FEF675-D1BE-E5C6-8C2B-5DE5A967F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72200" y="2582831"/>
              <a:ext cx="5181600" cy="2836925"/>
            </a:xfrm>
            <a:prstGeom prst="rect">
              <a:avLst/>
            </a:prstGeom>
            <a:noFill/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692FD3B-DC84-1FA7-F2D2-5E5376F3B4F0}"/>
                </a:ext>
              </a:extLst>
            </p:cNvPr>
            <p:cNvSpPr txBox="1"/>
            <p:nvPr/>
          </p:nvSpPr>
          <p:spPr>
            <a:xfrm>
              <a:off x="6172199" y="5419724"/>
              <a:ext cx="5153024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defTabSz="905256">
                <a:spcAft>
                  <a:spcPts val="600"/>
                </a:spcAft>
              </a:pPr>
              <a:r>
                <a:rPr lang="en-US" sz="1400" b="1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Source</a:t>
              </a:r>
              <a:r>
                <a:rPr lang="en-US" sz="1400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: He et al., </a:t>
              </a:r>
              <a:r>
                <a:rPr lang="en-US" sz="1400" i="1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Masked Autoencoders Are Scalable Vision Learners</a:t>
              </a:r>
              <a:r>
                <a:rPr lang="en-US" sz="1400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, CVPR 2022</a:t>
              </a:r>
              <a:endParaRPr lang="en-US" sz="1400"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078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E8B95-D714-1F97-B587-14932DDEE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Why MAE Needs Adaptation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4D796-3EF3-BE02-8D16-696C2A2CB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Standard MAE assumes: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Single image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RGB channels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Regular spatial structure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Satellite imagery violates all three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69557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BE348-9197-22F8-761E-4ABE98B3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Temporal </a:t>
            </a:r>
            <a:r>
              <a:rPr lang="en-US" dirty="0" err="1">
                <a:ea typeface="+mj-lt"/>
                <a:cs typeface="+mj-lt"/>
              </a:rPr>
              <a:t>SatMAE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10795-E5E3-539E-CA7E-E97C7B645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Input: image sequences T×C×H×W</a:t>
            </a:r>
            <a:endParaRPr lang="en-US" dirty="0"/>
          </a:p>
          <a:p>
            <a:r>
              <a:rPr lang="en-US" err="1">
                <a:ea typeface="+mn-lt"/>
                <a:cs typeface="+mn-lt"/>
              </a:rPr>
              <a:t>Patchify</a:t>
            </a:r>
            <a:r>
              <a:rPr lang="en-US" dirty="0">
                <a:ea typeface="+mn-lt"/>
                <a:cs typeface="+mn-lt"/>
              </a:rPr>
              <a:t> across space </a:t>
            </a:r>
            <a:r>
              <a:rPr lang="en-US" b="1" dirty="0">
                <a:ea typeface="+mn-lt"/>
                <a:cs typeface="+mn-lt"/>
              </a:rPr>
              <a:t>and time</a:t>
            </a:r>
            <a:endParaRPr lang="en-US" b="1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Shared patch embedding across all time steps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Works with arbitrary temporal ordering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82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1CF3CC8-4225-3DB6-40C9-435589DB4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/>
              <a:t>Temporal </a:t>
            </a:r>
            <a:r>
              <a:rPr lang="en-US" err="1"/>
              <a:t>SatMAE</a:t>
            </a:r>
            <a:r>
              <a:rPr lang="en-US"/>
              <a:t> Architecture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89172D7-1281-59B7-46FE-D92FE7255699}"/>
              </a:ext>
            </a:extLst>
          </p:cNvPr>
          <p:cNvGrpSpPr/>
          <p:nvPr/>
        </p:nvGrpSpPr>
        <p:grpSpPr>
          <a:xfrm>
            <a:off x="2127711" y="1480457"/>
            <a:ext cx="7971410" cy="4696506"/>
            <a:chOff x="1748169" y="1356632"/>
            <a:chExt cx="7919704" cy="466604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566F9BB-82AD-D69C-BFCC-2C16CD3E7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8169" y="1356632"/>
              <a:ext cx="7911344" cy="4334556"/>
            </a:xfrm>
            <a:prstGeom prst="rect">
              <a:avLst/>
            </a:prstGeom>
            <a:noFill/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96D64DD-60FD-6EE2-F5B7-CF130759C328}"/>
                </a:ext>
              </a:extLst>
            </p:cNvPr>
            <p:cNvSpPr txBox="1"/>
            <p:nvPr/>
          </p:nvSpPr>
          <p:spPr>
            <a:xfrm>
              <a:off x="1752599" y="5695949"/>
              <a:ext cx="7915274" cy="32672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defTabSz="911108">
                <a:spcAft>
                  <a:spcPts val="636"/>
                </a:spcAft>
              </a:pPr>
              <a:r>
                <a:rPr lang="en-US" sz="1484" b="1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Source</a:t>
              </a:r>
              <a:r>
                <a:rPr lang="en-US" sz="1484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: </a:t>
              </a:r>
              <a:r>
                <a:rPr lang="en-US" sz="1484" i="1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SatMAE: Pre-Training Transformers for Temporal and Multi-Spectral Satellite Imagery</a:t>
              </a:r>
              <a:endParaRPr lang="en-US" sz="1400" i="1"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4111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D9B30-D639-2AD4-012F-A1FD26D13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/>
              <a:t>Temporal Positional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D7FE8-94A0-5831-5BB9-722F12F4A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Explicit encoding of: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Year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Month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Hour</a:t>
            </a:r>
          </a:p>
          <a:p>
            <a:r>
              <a:rPr lang="en-US"/>
              <a:t>Concatenated with spatial positional encoding</a:t>
            </a:r>
            <a:endParaRPr lang="en-US" dirty="0"/>
          </a:p>
          <a:p>
            <a:r>
              <a:rPr lang="en-US"/>
              <a:t>Handles irregular temporal sampling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E91C0C0-A7F4-1A9A-5704-C6E9F1964998}"/>
              </a:ext>
            </a:extLst>
          </p:cNvPr>
          <p:cNvGrpSpPr/>
          <p:nvPr/>
        </p:nvGrpSpPr>
        <p:grpSpPr>
          <a:xfrm>
            <a:off x="6172200" y="2648606"/>
            <a:ext cx="5181600" cy="2705376"/>
            <a:chOff x="6172199" y="2803049"/>
            <a:chExt cx="5181601" cy="2705377"/>
          </a:xfrm>
        </p:grpSpPr>
        <p:pic>
          <p:nvPicPr>
            <p:cNvPr id="4" name="Picture 3" descr="A diagram of a structure&#10;&#10;AI-generated content may be incorrect.">
              <a:extLst>
                <a:ext uri="{FF2B5EF4-FFF2-40B4-BE49-F238E27FC236}">
                  <a16:creationId xmlns:a16="http://schemas.microsoft.com/office/drawing/2014/main" id="{D9A03E2E-F2F3-1B1A-24F0-4F230FCF6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72200" y="2803049"/>
              <a:ext cx="5181600" cy="2396489"/>
            </a:xfrm>
            <a:prstGeom prst="rect">
              <a:avLst/>
            </a:prstGeom>
            <a:noFill/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46E5924-C5E2-828A-49AC-A2A753746DEC}"/>
                </a:ext>
              </a:extLst>
            </p:cNvPr>
            <p:cNvSpPr txBox="1"/>
            <p:nvPr/>
          </p:nvSpPr>
          <p:spPr>
            <a:xfrm>
              <a:off x="6172199" y="5200649"/>
              <a:ext cx="5172074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defTabSz="905256">
                <a:spcAft>
                  <a:spcPts val="600"/>
                </a:spcAft>
              </a:pPr>
              <a:r>
                <a:rPr lang="en-US" sz="1386" b="1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Source</a:t>
              </a:r>
              <a:r>
                <a:rPr lang="en-US" sz="1386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: SatMAE (Temporal Encoding)</a:t>
              </a:r>
              <a:endParaRPr lang="en-US" sz="1400">
                <a:ea typeface="+mn-lt"/>
                <a:cs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5460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99457-E535-C34D-DCF2-ADDAAAB2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Masking in Temporal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536E6-5FB0-DA5C-0D57-77F63D949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Consistent Masking (CM):</a:t>
            </a:r>
            <a:endParaRPr lang="en-US" b="1" dirty="0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Same spatial patches masked across time</a:t>
            </a:r>
            <a:endParaRPr lang="en-US">
              <a:ea typeface="Calibri"/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Independent Masking (IM):</a:t>
            </a:r>
            <a:endParaRPr lang="en-US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Mask tokens independently across full sequence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2245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8C40834-7200-ADAC-C9B4-10683D01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/>
              <a:t>Masking in Temporal/Spectral Data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39ABBC-26B7-8B55-7833-830FE6751539}"/>
              </a:ext>
            </a:extLst>
          </p:cNvPr>
          <p:cNvGrpSpPr/>
          <p:nvPr/>
        </p:nvGrpSpPr>
        <p:grpSpPr>
          <a:xfrm>
            <a:off x="1413912" y="1480457"/>
            <a:ext cx="9399009" cy="4696505"/>
            <a:chOff x="1063409" y="1480457"/>
            <a:chExt cx="8976065" cy="4485169"/>
          </a:xfrm>
        </p:grpSpPr>
        <p:pic>
          <p:nvPicPr>
            <p:cNvPr id="4" name="Picture 3" descr="A collage of different images of roads&#10;&#10;AI-generated content may be incorrect.">
              <a:extLst>
                <a:ext uri="{FF2B5EF4-FFF2-40B4-BE49-F238E27FC236}">
                  <a16:creationId xmlns:a16="http://schemas.microsoft.com/office/drawing/2014/main" id="{0013A0E3-E9DD-9CDA-9FE3-38481D045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3409" y="1480457"/>
              <a:ext cx="8976065" cy="4172631"/>
            </a:xfrm>
            <a:prstGeom prst="rect">
              <a:avLst/>
            </a:prstGeom>
            <a:noFill/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2FC08FB-E647-151B-4743-7BB17B8B8EC3}"/>
                </a:ext>
              </a:extLst>
            </p:cNvPr>
            <p:cNvSpPr txBox="1"/>
            <p:nvPr/>
          </p:nvSpPr>
          <p:spPr>
            <a:xfrm>
              <a:off x="1095374" y="5657849"/>
              <a:ext cx="8943974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defTabSz="950976">
                <a:spcAft>
                  <a:spcPts val="600"/>
                </a:spcAft>
              </a:pPr>
              <a:r>
                <a:rPr lang="en-US" sz="1456" b="1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Source:</a:t>
              </a:r>
              <a:r>
                <a:rPr lang="en-US" sz="1456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 SatMAE (Independent vs. Consistent Masking)</a:t>
              </a:r>
              <a:endParaRPr lang="en-US">
                <a:ea typeface="+mn-lt"/>
                <a:cs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1622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ED52D-6762-C33A-F2FF-4B4327D6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Why Independent Masking Works Better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B502-45FE-D669-C392-0B528E404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Satellite imagery ≠ video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Seasonal changes, human activity, long time gaps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IM encourages: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Cross-time reasoning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Robust representations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Empirically outperforms CM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926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3C7E-8F35-DFF4-2962-FC6CAA588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Multi-Spectral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D1BBF-BCE6-3556-71E3-1A8963469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Sentinel-2: 13 bands, different wavelengths &amp; resolutions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Naively stacking channels may dilute spectral information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3089C10-7296-DF4B-055B-4C2985EC2F74}"/>
              </a:ext>
            </a:extLst>
          </p:cNvPr>
          <p:cNvGrpSpPr/>
          <p:nvPr/>
        </p:nvGrpSpPr>
        <p:grpSpPr>
          <a:xfrm>
            <a:off x="2236421" y="2671763"/>
            <a:ext cx="7258538" cy="3390090"/>
            <a:chOff x="2236421" y="2557463"/>
            <a:chExt cx="7258538" cy="3390090"/>
          </a:xfrm>
        </p:grpSpPr>
        <p:pic>
          <p:nvPicPr>
            <p:cNvPr id="4" name="Picture 3" descr="A table of measurements&#10;&#10;AI-generated content may be incorrect.">
              <a:extLst>
                <a:ext uri="{FF2B5EF4-FFF2-40B4-BE49-F238E27FC236}">
                  <a16:creationId xmlns:a16="http://schemas.microsoft.com/office/drawing/2014/main" id="{50EC7EC2-A840-E293-2B4B-AAF38C006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8375" y="2557463"/>
              <a:ext cx="7239000" cy="30861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5C939D-D931-3121-599D-56E5D74FC3D5}"/>
                </a:ext>
              </a:extLst>
            </p:cNvPr>
            <p:cNvSpPr txBox="1"/>
            <p:nvPr/>
          </p:nvSpPr>
          <p:spPr>
            <a:xfrm>
              <a:off x="2236421" y="5639776"/>
              <a:ext cx="7258538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 dirty="0">
                  <a:ea typeface="+mn-lt"/>
                  <a:cs typeface="+mn-lt"/>
                </a:rPr>
                <a:t>Source</a:t>
              </a:r>
              <a:r>
                <a:rPr lang="en-US" sz="1400" dirty="0">
                  <a:ea typeface="+mn-lt"/>
                  <a:cs typeface="+mn-lt"/>
                </a:rPr>
                <a:t>: </a:t>
              </a:r>
              <a:r>
                <a:rPr lang="en-US" sz="1400" err="1">
                  <a:ea typeface="+mn-lt"/>
                  <a:cs typeface="+mn-lt"/>
                </a:rPr>
                <a:t>SatMAE</a:t>
              </a:r>
              <a:r>
                <a:rPr lang="en-US" sz="1400" dirty="0">
                  <a:ea typeface="+mn-lt"/>
                  <a:cs typeface="+mn-lt"/>
                </a:rPr>
                <a:t> (Sentinel-2 Data)</a:t>
              </a:r>
              <a:endParaRPr lang="en-US" sz="1400"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6822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E4CA-1518-BC23-0905-D119E612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/>
              <a:t>Spectral Grouping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B957-C384-0716-113F-1C5526AC6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Group bands by: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Wavelength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Spatial resolution</a:t>
            </a:r>
          </a:p>
          <a:p>
            <a:r>
              <a:rPr lang="en-US"/>
              <a:t>Separate patch embeddings per group</a:t>
            </a:r>
            <a:endParaRPr lang="en-US" dirty="0"/>
          </a:p>
          <a:p>
            <a:r>
              <a:rPr lang="en-US"/>
              <a:t>Add </a:t>
            </a:r>
            <a:r>
              <a:rPr lang="en-US" b="1"/>
              <a:t>spectral positional encoding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12F844-43A3-A167-BF1F-DD54910E9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903624"/>
              </p:ext>
            </p:extLst>
          </p:nvPr>
        </p:nvGraphicFramePr>
        <p:xfrm>
          <a:off x="6172200" y="2214829"/>
          <a:ext cx="5181601" cy="3572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608">
                  <a:extLst>
                    <a:ext uri="{9D8B030D-6E8A-4147-A177-3AD203B41FA5}">
                      <a16:colId xmlns:a16="http://schemas.microsoft.com/office/drawing/2014/main" val="1445164695"/>
                    </a:ext>
                  </a:extLst>
                </a:gridCol>
                <a:gridCol w="1671386">
                  <a:extLst>
                    <a:ext uri="{9D8B030D-6E8A-4147-A177-3AD203B41FA5}">
                      <a16:colId xmlns:a16="http://schemas.microsoft.com/office/drawing/2014/main" val="2739053230"/>
                    </a:ext>
                  </a:extLst>
                </a:gridCol>
                <a:gridCol w="1823607">
                  <a:extLst>
                    <a:ext uri="{9D8B030D-6E8A-4147-A177-3AD203B41FA5}">
                      <a16:colId xmlns:a16="http://schemas.microsoft.com/office/drawing/2014/main" val="1334733137"/>
                    </a:ext>
                  </a:extLst>
                </a:gridCol>
              </a:tblGrid>
              <a:tr h="482236">
                <a:tc>
                  <a:txBody>
                    <a:bodyPr/>
                    <a:lstStyle/>
                    <a:p>
                      <a:r>
                        <a:rPr lang="en-US" sz="2200" dirty="0"/>
                        <a:t>Group</a:t>
                      </a:r>
                    </a:p>
                  </a:txBody>
                  <a:tcPr marL="109599" marR="109599" marT="54800" marB="54800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Resolution</a:t>
                      </a:r>
                    </a:p>
                  </a:txBody>
                  <a:tcPr marL="109599" marR="109599" marT="54800" marB="54800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Wavelength</a:t>
                      </a:r>
                    </a:p>
                  </a:txBody>
                  <a:tcPr marL="109599" marR="109599" marT="54800" marB="54800"/>
                </a:tc>
                <a:extLst>
                  <a:ext uri="{0D108BD9-81ED-4DB2-BD59-A6C34878D82A}">
                    <a16:rowId xmlns:a16="http://schemas.microsoft.com/office/drawing/2014/main" val="2249517098"/>
                  </a:ext>
                </a:extLst>
              </a:tr>
              <a:tr h="1139831">
                <a:tc>
                  <a:txBody>
                    <a:bodyPr/>
                    <a:lstStyle/>
                    <a:p>
                      <a:r>
                        <a:rPr lang="en-US" sz="2200" dirty="0"/>
                        <a:t>RGB+NIR (B2, B3, B4, B8)</a:t>
                      </a:r>
                    </a:p>
                  </a:txBody>
                  <a:tcPr marL="109599" marR="109599" marT="54800" marB="54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10m</a:t>
                      </a:r>
                    </a:p>
                  </a:txBody>
                  <a:tcPr marL="109599" marR="109599" marT="54800" marB="54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490-665nm</a:t>
                      </a:r>
                    </a:p>
                  </a:txBody>
                  <a:tcPr marL="109599" marR="109599" marT="54800" marB="54800"/>
                </a:tc>
                <a:extLst>
                  <a:ext uri="{0D108BD9-81ED-4DB2-BD59-A6C34878D82A}">
                    <a16:rowId xmlns:a16="http://schemas.microsoft.com/office/drawing/2014/main" val="1901582731"/>
                  </a:ext>
                </a:extLst>
              </a:tr>
              <a:tr h="1139831">
                <a:tc>
                  <a:txBody>
                    <a:bodyPr/>
                    <a:lstStyle/>
                    <a:p>
                      <a:r>
                        <a:rPr lang="en-US" sz="2200" dirty="0"/>
                        <a:t>Red Edge (B5, B6, B7, B8A)</a:t>
                      </a:r>
                    </a:p>
                  </a:txBody>
                  <a:tcPr marL="109599" marR="109599" marT="54800" marB="54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20m</a:t>
                      </a:r>
                    </a:p>
                  </a:txBody>
                  <a:tcPr marL="109599" marR="109599" marT="54800" marB="54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705-783nm</a:t>
                      </a:r>
                    </a:p>
                  </a:txBody>
                  <a:tcPr marL="109599" marR="109599" marT="54800" marB="54800"/>
                </a:tc>
                <a:extLst>
                  <a:ext uri="{0D108BD9-81ED-4DB2-BD59-A6C34878D82A}">
                    <a16:rowId xmlns:a16="http://schemas.microsoft.com/office/drawing/2014/main" val="2114773021"/>
                  </a:ext>
                </a:extLst>
              </a:tr>
              <a:tr h="811034">
                <a:tc>
                  <a:txBody>
                    <a:bodyPr/>
                    <a:lstStyle/>
                    <a:p>
                      <a:r>
                        <a:rPr lang="en-US" sz="2200" dirty="0"/>
                        <a:t>SWIR (B11, B12)</a:t>
                      </a:r>
                    </a:p>
                  </a:txBody>
                  <a:tcPr marL="109599" marR="109599" marT="54800" marB="54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20m</a:t>
                      </a:r>
                    </a:p>
                  </a:txBody>
                  <a:tcPr marL="109599" marR="109599" marT="54800" marB="548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1610-2190nm</a:t>
                      </a:r>
                    </a:p>
                  </a:txBody>
                  <a:tcPr marL="109599" marR="109599" marT="54800" marB="54800"/>
                </a:tc>
                <a:extLst>
                  <a:ext uri="{0D108BD9-81ED-4DB2-BD59-A6C34878D82A}">
                    <a16:rowId xmlns:a16="http://schemas.microsoft.com/office/drawing/2014/main" val="3163045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883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2E37-1A8D-9E45-077F-E33246E7B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fMoW RGB (non-)Temporal Results</a:t>
            </a:r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FC7F268-6A88-4D72-DF9A-069C7FAF2183}"/>
              </a:ext>
            </a:extLst>
          </p:cNvPr>
          <p:cNvGrpSpPr/>
          <p:nvPr/>
        </p:nvGrpSpPr>
        <p:grpSpPr>
          <a:xfrm>
            <a:off x="581025" y="1919129"/>
            <a:ext cx="5191124" cy="4278967"/>
            <a:chOff x="533400" y="2185829"/>
            <a:chExt cx="5191124" cy="4278967"/>
          </a:xfrm>
        </p:grpSpPr>
        <p:pic>
          <p:nvPicPr>
            <p:cNvPr id="6" name="Picture 5" descr="A table with numbers and letters&#10;&#10;AI-generated content may be incorrect.">
              <a:extLst>
                <a:ext uri="{FF2B5EF4-FFF2-40B4-BE49-F238E27FC236}">
                  <a16:creationId xmlns:a16="http://schemas.microsoft.com/office/drawing/2014/main" id="{02F24673-7052-978A-DF3E-03FDB03D0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2185829"/>
              <a:ext cx="5181600" cy="2583179"/>
            </a:xfrm>
            <a:prstGeom prst="rect">
              <a:avLst/>
            </a:prstGeom>
            <a:noFill/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92803E-2104-4977-7DD3-76932BCD4A2B}"/>
                </a:ext>
              </a:extLst>
            </p:cNvPr>
            <p:cNvSpPr txBox="1"/>
            <p:nvPr/>
          </p:nvSpPr>
          <p:spPr>
            <a:xfrm>
              <a:off x="533400" y="4772025"/>
              <a:ext cx="5191124" cy="169277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Top 1 Accuracy on the non-temporal fMoW RGB dataset. * is training from scratch, </a:t>
              </a:r>
              <a:r>
                <a:rPr lang="en-US" dirty="0">
                  <a:ea typeface="+mn-lt"/>
                  <a:cs typeface="+mn-lt"/>
                </a:rPr>
                <a:t>† is using supervised-learning ImageNet weights, and ‡ is SSL MAE ImageNet weights. </a:t>
              </a:r>
              <a:br>
                <a:rPr lang="en-US" dirty="0">
                  <a:ea typeface="+mn-lt"/>
                  <a:cs typeface="+mn-lt"/>
                </a:rPr>
              </a:br>
              <a:br>
                <a:rPr lang="en-US" dirty="0">
                  <a:ea typeface="+mn-lt"/>
                  <a:cs typeface="+mn-lt"/>
                </a:rPr>
              </a:br>
              <a:r>
                <a:rPr lang="en-US" sz="1400" b="1" dirty="0">
                  <a:ea typeface="+mn-lt"/>
                  <a:cs typeface="+mn-lt"/>
                </a:rPr>
                <a:t>Source: </a:t>
              </a:r>
              <a:r>
                <a:rPr lang="en-US" sz="1400" dirty="0" err="1">
                  <a:ea typeface="+mn-lt"/>
                  <a:cs typeface="+mn-lt"/>
                </a:rPr>
                <a:t>SatMAE</a:t>
              </a:r>
              <a:r>
                <a:rPr lang="en-US" sz="1400" dirty="0">
                  <a:ea typeface="+mn-lt"/>
                  <a:cs typeface="+mn-lt"/>
                </a:rPr>
                <a:t>, Table 1.</a:t>
              </a:r>
              <a:endParaRPr lang="en-US" sz="1400" dirty="0">
                <a:ea typeface="Calibri"/>
                <a:cs typeface="Calibri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0A4CFA-60CF-84F7-9BFB-C6CA1CEB4C93}"/>
              </a:ext>
            </a:extLst>
          </p:cNvPr>
          <p:cNvGrpSpPr/>
          <p:nvPr/>
        </p:nvGrpSpPr>
        <p:grpSpPr>
          <a:xfrm>
            <a:off x="6415088" y="1619250"/>
            <a:ext cx="5181600" cy="4635995"/>
            <a:chOff x="6100763" y="2009775"/>
            <a:chExt cx="5181600" cy="4635995"/>
          </a:xfrm>
        </p:grpSpPr>
        <p:pic>
          <p:nvPicPr>
            <p:cNvPr id="8" name="Picture 7" descr="A table with numbers and symbols&#10;&#10;AI-generated content may be incorrect.">
              <a:extLst>
                <a:ext uri="{FF2B5EF4-FFF2-40B4-BE49-F238E27FC236}">
                  <a16:creationId xmlns:a16="http://schemas.microsoft.com/office/drawing/2014/main" id="{EE8F4B0B-BCF2-C9D7-B1DE-786116D9F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0763" y="2009775"/>
              <a:ext cx="5181600" cy="294322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AF75B3-4430-657C-1BD7-C38E2683882D}"/>
                </a:ext>
              </a:extLst>
            </p:cNvPr>
            <p:cNvSpPr txBox="1"/>
            <p:nvPr/>
          </p:nvSpPr>
          <p:spPr>
            <a:xfrm>
              <a:off x="6105524" y="4952999"/>
              <a:ext cx="5143499" cy="169277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Top 1 &amp; Top 5 Accuracy on the temporal fMoW RGB dataset. * means finetuning from scratch. || means copying the input image 3 times instead of using temporal sequences as input.</a:t>
              </a:r>
              <a:r>
                <a:rPr lang="en-US" dirty="0">
                  <a:ea typeface="+mn-lt"/>
                  <a:cs typeface="+mn-lt"/>
                </a:rPr>
                <a:t> </a:t>
              </a:r>
              <a:br>
                <a:rPr lang="en-US" dirty="0">
                  <a:ea typeface="+mn-lt"/>
                  <a:cs typeface="+mn-lt"/>
                </a:rPr>
              </a:br>
              <a:br>
                <a:rPr lang="en-US" dirty="0">
                  <a:ea typeface="+mn-lt"/>
                  <a:cs typeface="+mn-lt"/>
                </a:rPr>
              </a:br>
              <a:r>
                <a:rPr lang="en-US" sz="1400" b="1" dirty="0">
                  <a:ea typeface="+mn-lt"/>
                  <a:cs typeface="+mn-lt"/>
                </a:rPr>
                <a:t>Source:</a:t>
              </a:r>
              <a:r>
                <a:rPr lang="en-US" sz="1400" dirty="0">
                  <a:ea typeface="+mn-lt"/>
                  <a:cs typeface="+mn-lt"/>
                </a:rPr>
                <a:t> </a:t>
              </a:r>
              <a:r>
                <a:rPr lang="en-US" sz="1400" dirty="0" err="1">
                  <a:ea typeface="+mn-lt"/>
                  <a:cs typeface="+mn-lt"/>
                </a:rPr>
                <a:t>SatMAE</a:t>
              </a:r>
              <a:r>
                <a:rPr lang="en-US" sz="1400" dirty="0">
                  <a:ea typeface="+mn-lt"/>
                  <a:cs typeface="+mn-lt"/>
                </a:rPr>
                <a:t>, Table 2.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2480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FA28A-D182-EFFC-81BC-F7258803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/>
              <a:t>Multi-Spectral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ABBED-412A-2619-0F64-411DA97C4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err="1"/>
              <a:t>SatMAE+Group+IM</a:t>
            </a:r>
            <a:r>
              <a:rPr lang="en-US"/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+6.27% over supervised from scratch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+4.84% over ImageNet </a:t>
            </a:r>
            <a:r>
              <a:rPr lang="en-US" sz="2800" err="1"/>
              <a:t>init</a:t>
            </a:r>
            <a:endParaRPr lang="en-US" sz="2800"/>
          </a:p>
          <a:p>
            <a:r>
              <a:rPr lang="en-US"/>
              <a:t>ImageNet pretraining less effective → distribution shift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F2924F-ED7C-020A-1949-EB57CEB8B04B}"/>
              </a:ext>
            </a:extLst>
          </p:cNvPr>
          <p:cNvGrpSpPr/>
          <p:nvPr/>
        </p:nvGrpSpPr>
        <p:grpSpPr>
          <a:xfrm>
            <a:off x="6276974" y="1121696"/>
            <a:ext cx="5238749" cy="5253028"/>
            <a:chOff x="6115049" y="1636046"/>
            <a:chExt cx="5238749" cy="5253028"/>
          </a:xfrm>
        </p:grpSpPr>
        <p:pic>
          <p:nvPicPr>
            <p:cNvPr id="4" name="Picture 3" descr="A table with text and numbers&#10;&#10;AI-generated content may be incorrect.">
              <a:extLst>
                <a:ext uri="{FF2B5EF4-FFF2-40B4-BE49-F238E27FC236}">
                  <a16:creationId xmlns:a16="http://schemas.microsoft.com/office/drawing/2014/main" id="{7F0511CB-993F-0DA0-66B3-E147C67A9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050" y="1636046"/>
              <a:ext cx="5181600" cy="3225545"/>
            </a:xfrm>
            <a:prstGeom prst="rect">
              <a:avLst/>
            </a:prstGeom>
            <a:noFill/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5FE6235-4032-299A-7271-026B65216813}"/>
                </a:ext>
              </a:extLst>
            </p:cNvPr>
            <p:cNvSpPr txBox="1"/>
            <p:nvPr/>
          </p:nvSpPr>
          <p:spPr>
            <a:xfrm>
              <a:off x="6115049" y="4857749"/>
              <a:ext cx="5238749" cy="203132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Top 1 &amp; Top 5 Accuracy on the fMoW Sentinel validation set. The different initializations are: * from scratch, </a:t>
              </a:r>
              <a:r>
                <a:rPr lang="en-US" dirty="0">
                  <a:ea typeface="+mn-lt"/>
                  <a:cs typeface="+mn-lt"/>
                </a:rPr>
                <a:t>† MAE ImageNet weights, ‡ supervised ImageNet weights, § </a:t>
              </a:r>
              <a:r>
                <a:rPr lang="en-US" err="1">
                  <a:ea typeface="+mn-lt"/>
                  <a:cs typeface="+mn-lt"/>
                </a:rPr>
                <a:t>SatMAE</a:t>
              </a:r>
              <a:r>
                <a:rPr lang="en-US" dirty="0">
                  <a:ea typeface="+mn-lt"/>
                  <a:cs typeface="+mn-lt"/>
                </a:rPr>
                <a:t> </a:t>
              </a:r>
              <a:r>
                <a:rPr lang="en-US" err="1">
                  <a:ea typeface="+mn-lt"/>
                  <a:cs typeface="+mn-lt"/>
                </a:rPr>
                <a:t>fMoW</a:t>
              </a:r>
              <a:r>
                <a:rPr lang="en-US" dirty="0">
                  <a:ea typeface="+mn-lt"/>
                  <a:cs typeface="+mn-lt"/>
                </a:rPr>
                <a:t> RGB weights. Other rows use </a:t>
              </a:r>
              <a:r>
                <a:rPr lang="en-US" err="1">
                  <a:ea typeface="+mn-lt"/>
                  <a:cs typeface="+mn-lt"/>
                </a:rPr>
                <a:t>fMoW</a:t>
              </a:r>
              <a:r>
                <a:rPr lang="en-US" dirty="0">
                  <a:ea typeface="+mn-lt"/>
                  <a:cs typeface="+mn-lt"/>
                </a:rPr>
                <a:t> Sentinel for pre-training. </a:t>
              </a:r>
              <a:br>
                <a:rPr lang="en-US" dirty="0">
                  <a:ea typeface="+mn-lt"/>
                  <a:cs typeface="+mn-lt"/>
                </a:rPr>
              </a:br>
              <a:br>
                <a:rPr lang="en-US" dirty="0">
                  <a:ea typeface="+mn-lt"/>
                  <a:cs typeface="+mn-lt"/>
                </a:rPr>
              </a:br>
              <a:r>
                <a:rPr lang="en-US" sz="1400" b="1" dirty="0">
                  <a:ea typeface="+mn-lt"/>
                  <a:cs typeface="+mn-lt"/>
                </a:rPr>
                <a:t>Source</a:t>
              </a:r>
              <a:r>
                <a:rPr lang="en-US" sz="1400" dirty="0">
                  <a:ea typeface="+mn-lt"/>
                  <a:cs typeface="+mn-lt"/>
                </a:rPr>
                <a:t>: </a:t>
              </a:r>
              <a:r>
                <a:rPr lang="en-US" sz="1400" err="1">
                  <a:ea typeface="+mn-lt"/>
                  <a:cs typeface="+mn-lt"/>
                </a:rPr>
                <a:t>SatMAE</a:t>
              </a:r>
              <a:r>
                <a:rPr lang="en-US" sz="1400" dirty="0">
                  <a:ea typeface="+mn-lt"/>
                  <a:cs typeface="+mn-lt"/>
                </a:rPr>
                <a:t>, Table 3. </a:t>
              </a:r>
              <a:endParaRPr lang="en-US" sz="1400" dirty="0">
                <a:ea typeface="Calibri" panose="020F0502020204030204"/>
                <a:cs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1789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2254-EF4B-83DD-5DB3-AA7168482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Transfer Learning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14E5D-7784-454E-148D-4CE49334F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Land cover (NAIP, </a:t>
            </a:r>
            <a:r>
              <a:rPr lang="en-US" dirty="0" err="1">
                <a:ea typeface="+mn-lt"/>
                <a:cs typeface="+mn-lt"/>
              </a:rPr>
              <a:t>EuroSAT</a:t>
            </a:r>
            <a:r>
              <a:rPr lang="en-US" dirty="0">
                <a:ea typeface="+mn-lt"/>
                <a:cs typeface="+mn-lt"/>
              </a:rPr>
              <a:t> [5])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Multi-label classification (</a:t>
            </a:r>
            <a:r>
              <a:rPr lang="en-US" dirty="0" err="1">
                <a:ea typeface="+mn-lt"/>
                <a:cs typeface="+mn-lt"/>
              </a:rPr>
              <a:t>BigEarthNet</a:t>
            </a:r>
            <a:r>
              <a:rPr lang="en-US" dirty="0">
                <a:ea typeface="+mn-lt"/>
                <a:cs typeface="+mn-lt"/>
              </a:rPr>
              <a:t> [6])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Building segmentation (</a:t>
            </a:r>
            <a:r>
              <a:rPr lang="en-US" dirty="0" err="1">
                <a:ea typeface="+mn-lt"/>
                <a:cs typeface="+mn-lt"/>
              </a:rPr>
              <a:t>SpaceNet</a:t>
            </a:r>
            <a:r>
              <a:rPr lang="en-US" dirty="0">
                <a:ea typeface="+mn-lt"/>
                <a:cs typeface="+mn-lt"/>
              </a:rPr>
              <a:t> [7])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79734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75F9C-0677-9949-9D2D-F8860AD3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Transfer Learning Results</a:t>
            </a:r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E6F2656-6CF1-8374-1DA9-20D506989F14}"/>
              </a:ext>
            </a:extLst>
          </p:cNvPr>
          <p:cNvGrpSpPr/>
          <p:nvPr/>
        </p:nvGrpSpPr>
        <p:grpSpPr>
          <a:xfrm>
            <a:off x="1133475" y="1362075"/>
            <a:ext cx="4419600" cy="2066245"/>
            <a:chOff x="600075" y="1352550"/>
            <a:chExt cx="4895850" cy="2338119"/>
          </a:xfrm>
        </p:grpSpPr>
        <p:pic>
          <p:nvPicPr>
            <p:cNvPr id="4" name="Picture 3" descr="A close-up of a table&#10;&#10;AI-generated content may be incorrect.">
              <a:extLst>
                <a:ext uri="{FF2B5EF4-FFF2-40B4-BE49-F238E27FC236}">
                  <a16:creationId xmlns:a16="http://schemas.microsoft.com/office/drawing/2014/main" id="{0E03920D-8231-FB13-1728-5296B0C7F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1352550"/>
              <a:ext cx="4895850" cy="1676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852ED9-43C7-B920-1397-5361CA6CE764}"/>
                </a:ext>
              </a:extLst>
            </p:cNvPr>
            <p:cNvSpPr txBox="1"/>
            <p:nvPr/>
          </p:nvSpPr>
          <p:spPr>
            <a:xfrm>
              <a:off x="676274" y="3028950"/>
              <a:ext cx="4819650" cy="6617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dirty="0">
                  <a:ea typeface="Calibri"/>
                  <a:cs typeface="Calibri"/>
                </a:rPr>
                <a:t>NAIP land cover classification results </a:t>
              </a:r>
              <a:r>
                <a:rPr lang="en-US" sz="1600" i="1" dirty="0">
                  <a:ea typeface="Calibri"/>
                  <a:cs typeface="Calibri"/>
                </a:rPr>
                <a:t>(</a:t>
              </a:r>
              <a:r>
                <a:rPr lang="en-US" sz="1600" i="1" err="1">
                  <a:ea typeface="Calibri"/>
                  <a:cs typeface="Calibri"/>
                </a:rPr>
                <a:t>SatMAE</a:t>
              </a:r>
              <a:r>
                <a:rPr lang="en-US" sz="1600" i="1" dirty="0">
                  <a:ea typeface="Calibri"/>
                  <a:cs typeface="Calibri"/>
                </a:rPr>
                <a:t>, Table 6)</a:t>
              </a:r>
              <a:r>
                <a:rPr lang="en-US" sz="1600" dirty="0">
                  <a:ea typeface="Calibri"/>
                  <a:cs typeface="Calibri"/>
                </a:rPr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E7E55B-52EC-F513-CFB7-D5E086DDF2B6}"/>
              </a:ext>
            </a:extLst>
          </p:cNvPr>
          <p:cNvGrpSpPr/>
          <p:nvPr/>
        </p:nvGrpSpPr>
        <p:grpSpPr>
          <a:xfrm>
            <a:off x="1133474" y="3505200"/>
            <a:ext cx="4419601" cy="2623437"/>
            <a:chOff x="600074" y="3400425"/>
            <a:chExt cx="4895851" cy="2917207"/>
          </a:xfrm>
        </p:grpSpPr>
        <p:pic>
          <p:nvPicPr>
            <p:cNvPr id="6" name="Picture 5" descr="A table with text and numbers&#10;&#10;AI-generated content may be incorrect.">
              <a:extLst>
                <a:ext uri="{FF2B5EF4-FFF2-40B4-BE49-F238E27FC236}">
                  <a16:creationId xmlns:a16="http://schemas.microsoft.com/office/drawing/2014/main" id="{D2EBCCC9-2FA4-F70D-19AB-6584D97A4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075" y="3400425"/>
              <a:ext cx="4895850" cy="22669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68D5C5C-7745-5AA2-1CF5-DF25CA60D834}"/>
                </a:ext>
              </a:extLst>
            </p:cNvPr>
            <p:cNvSpPr txBox="1"/>
            <p:nvPr/>
          </p:nvSpPr>
          <p:spPr>
            <a:xfrm>
              <a:off x="600074" y="5667374"/>
              <a:ext cx="4876798" cy="65025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dirty="0">
                  <a:ea typeface="Calibri"/>
                  <a:cs typeface="Calibri"/>
                </a:rPr>
                <a:t>EuroSAT land cover classification results. * means only RGB channels used </a:t>
              </a:r>
              <a:r>
                <a:rPr lang="en-US" sz="1600" i="1" dirty="0">
                  <a:ea typeface="Calibri"/>
                  <a:cs typeface="Calibri"/>
                </a:rPr>
                <a:t>(</a:t>
              </a:r>
              <a:r>
                <a:rPr lang="en-US" sz="1600" i="1" err="1">
                  <a:ea typeface="Calibri"/>
                  <a:cs typeface="Calibri"/>
                </a:rPr>
                <a:t>SatMAE</a:t>
              </a:r>
              <a:r>
                <a:rPr lang="en-US" sz="1600" i="1" dirty="0">
                  <a:ea typeface="Calibri"/>
                  <a:cs typeface="Calibri"/>
                </a:rPr>
                <a:t>, Table 8)</a:t>
              </a:r>
              <a:r>
                <a:rPr lang="en-US" sz="1600" dirty="0">
                  <a:ea typeface="Calibri"/>
                  <a:cs typeface="Calibri"/>
                </a:rPr>
                <a:t>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1E5324-F268-BAF4-E363-867FB73F76CA}"/>
              </a:ext>
            </a:extLst>
          </p:cNvPr>
          <p:cNvGrpSpPr/>
          <p:nvPr/>
        </p:nvGrpSpPr>
        <p:grpSpPr>
          <a:xfrm>
            <a:off x="6434138" y="1357313"/>
            <a:ext cx="4576760" cy="2099905"/>
            <a:chOff x="6338888" y="1357313"/>
            <a:chExt cx="4872035" cy="2211206"/>
          </a:xfrm>
        </p:grpSpPr>
        <p:pic>
          <p:nvPicPr>
            <p:cNvPr id="5" name="Picture 4" descr="A table with text on it&#10;&#10;AI-generated content may be incorrect.">
              <a:extLst>
                <a:ext uri="{FF2B5EF4-FFF2-40B4-BE49-F238E27FC236}">
                  <a16:creationId xmlns:a16="http://schemas.microsoft.com/office/drawing/2014/main" id="{DD416762-8867-BC5B-FA72-56395619E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8888" y="1357313"/>
              <a:ext cx="4867275" cy="159067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E7D2FA-DC77-9D09-5C7F-8EC1E14B6315}"/>
                </a:ext>
              </a:extLst>
            </p:cNvPr>
            <p:cNvSpPr txBox="1"/>
            <p:nvPr/>
          </p:nvSpPr>
          <p:spPr>
            <a:xfrm>
              <a:off x="6343650" y="2952749"/>
              <a:ext cx="4867273" cy="615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err="1">
                  <a:ea typeface="Calibri"/>
                  <a:cs typeface="Calibri"/>
                </a:rPr>
                <a:t>SpaceNet</a:t>
              </a:r>
              <a:r>
                <a:rPr lang="en-US" sz="1600" dirty="0">
                  <a:ea typeface="Calibri"/>
                  <a:cs typeface="Calibri"/>
                </a:rPr>
                <a:t> v1 building segmentation results </a:t>
              </a:r>
              <a:r>
                <a:rPr lang="en-US" sz="1600" i="1" dirty="0">
                  <a:ea typeface="Calibri"/>
                  <a:cs typeface="Calibri"/>
                </a:rPr>
                <a:t>(</a:t>
              </a:r>
              <a:r>
                <a:rPr lang="en-US" sz="1600" i="1" err="1">
                  <a:ea typeface="Calibri"/>
                  <a:cs typeface="Calibri"/>
                </a:rPr>
                <a:t>SatMAE</a:t>
              </a:r>
              <a:r>
                <a:rPr lang="en-US" sz="1600" i="1" dirty="0">
                  <a:ea typeface="Calibri"/>
                  <a:cs typeface="Calibri"/>
                </a:rPr>
                <a:t>, Table 7)</a:t>
              </a:r>
              <a:r>
                <a:rPr lang="en-US" sz="1600" dirty="0">
                  <a:ea typeface="Calibri"/>
                  <a:cs typeface="Calibri"/>
                </a:rPr>
                <a:t>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4DC433-3B8D-2C87-D707-21EBD6250879}"/>
              </a:ext>
            </a:extLst>
          </p:cNvPr>
          <p:cNvGrpSpPr/>
          <p:nvPr/>
        </p:nvGrpSpPr>
        <p:grpSpPr>
          <a:xfrm>
            <a:off x="6434138" y="3505200"/>
            <a:ext cx="4576760" cy="2604413"/>
            <a:chOff x="6281738" y="3400425"/>
            <a:chExt cx="4929185" cy="2800503"/>
          </a:xfrm>
        </p:grpSpPr>
        <p:pic>
          <p:nvPicPr>
            <p:cNvPr id="7" name="Picture 6" descr="A table with text and numbers&#10;&#10;AI-generated content may be incorrect.">
              <a:extLst>
                <a:ext uri="{FF2B5EF4-FFF2-40B4-BE49-F238E27FC236}">
                  <a16:creationId xmlns:a16="http://schemas.microsoft.com/office/drawing/2014/main" id="{14C88A40-749D-0840-FD56-F9BA49D6C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1738" y="3400425"/>
              <a:ext cx="4924425" cy="21717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CA3C68-E38F-A269-1D9C-8095CB69E887}"/>
                </a:ext>
              </a:extLst>
            </p:cNvPr>
            <p:cNvSpPr txBox="1"/>
            <p:nvPr/>
          </p:nvSpPr>
          <p:spPr>
            <a:xfrm>
              <a:off x="6286499" y="5572124"/>
              <a:ext cx="4924424" cy="62880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dirty="0" err="1">
                  <a:ea typeface="Calibri"/>
                  <a:cs typeface="Calibri"/>
                </a:rPr>
                <a:t>BigEarthNet</a:t>
              </a:r>
              <a:r>
                <a:rPr lang="en-US" sz="1600" dirty="0">
                  <a:ea typeface="Calibri"/>
                  <a:cs typeface="Calibri"/>
                </a:rPr>
                <a:t> multi-label classification results </a:t>
              </a:r>
              <a:r>
                <a:rPr lang="en-US" sz="1600" i="1" dirty="0">
                  <a:ea typeface="Calibri"/>
                  <a:cs typeface="Calibri"/>
                </a:rPr>
                <a:t>(</a:t>
              </a:r>
              <a:r>
                <a:rPr lang="en-US" sz="1600" i="1" dirty="0" err="1">
                  <a:ea typeface="Calibri"/>
                  <a:cs typeface="Calibri"/>
                </a:rPr>
                <a:t>SatMAE</a:t>
              </a:r>
              <a:r>
                <a:rPr lang="en-US" sz="1600" i="1" dirty="0">
                  <a:ea typeface="Calibri"/>
                  <a:cs typeface="Calibri"/>
                </a:rPr>
                <a:t>, Table 9)</a:t>
              </a:r>
              <a:r>
                <a:rPr lang="en-US" sz="1600" dirty="0">
                  <a:ea typeface="Calibri"/>
                  <a:cs typeface="Calibri"/>
                </a:rPr>
                <a:t>.</a:t>
              </a:r>
              <a:endParaRPr lang="en-US" sz="1600"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6187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2243-68C9-0C44-D56B-E7B9D0E1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 dirty="0"/>
              <a:t>Reconstruction Quality (IM vs. CM)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072CB6E-9A47-86B5-E3F5-43BBF80588C9}"/>
              </a:ext>
            </a:extLst>
          </p:cNvPr>
          <p:cNvGrpSpPr/>
          <p:nvPr/>
        </p:nvGrpSpPr>
        <p:grpSpPr>
          <a:xfrm>
            <a:off x="1674270" y="1480457"/>
            <a:ext cx="8878293" cy="4696506"/>
            <a:chOff x="1356946" y="1509032"/>
            <a:chExt cx="8665307" cy="4583839"/>
          </a:xfrm>
        </p:grpSpPr>
        <p:pic>
          <p:nvPicPr>
            <p:cNvPr id="4" name="Picture 3" descr="A collage of images of an airplane&#10;&#10;AI-generated content may be incorrect.">
              <a:extLst>
                <a:ext uri="{FF2B5EF4-FFF2-40B4-BE49-F238E27FC236}">
                  <a16:creationId xmlns:a16="http://schemas.microsoft.com/office/drawing/2014/main" id="{9642AAAB-146D-652E-5950-5A16F329A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9945" y="1509032"/>
              <a:ext cx="8630642" cy="4267881"/>
            </a:xfrm>
            <a:prstGeom prst="rect">
              <a:avLst/>
            </a:prstGeom>
            <a:noFill/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4303FA9-6670-A88B-CB9B-89FBA6457C1C}"/>
                </a:ext>
              </a:extLst>
            </p:cNvPr>
            <p:cNvSpPr txBox="1"/>
            <p:nvPr/>
          </p:nvSpPr>
          <p:spPr>
            <a:xfrm>
              <a:off x="1356946" y="5785094"/>
              <a:ext cx="8665307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defTabSz="932688">
                <a:spcAft>
                  <a:spcPts val="600"/>
                </a:spcAft>
              </a:pPr>
              <a:r>
                <a:rPr lang="en-US" sz="1428" b="1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Source</a:t>
              </a:r>
              <a:r>
                <a:rPr lang="en-US" sz="1428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: </a:t>
              </a:r>
              <a:r>
                <a:rPr lang="en-US" sz="1428" kern="1200" err="1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SatMAE</a:t>
              </a:r>
              <a:r>
                <a:rPr lang="en-US" sz="1428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, Fig. 4 (Reconstruction quality of </a:t>
              </a:r>
              <a:r>
                <a:rPr lang="en-US" sz="1428" kern="1200" err="1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SatMAE+IM</a:t>
              </a:r>
              <a:r>
                <a:rPr lang="en-US" sz="1428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 (left) vs. </a:t>
              </a:r>
              <a:r>
                <a:rPr lang="en-US" sz="1428" kern="1200" err="1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SatMAE+CM</a:t>
              </a:r>
              <a:r>
                <a:rPr lang="en-US" sz="1428" kern="1200">
                  <a:solidFill>
                    <a:schemeClr val="tx1"/>
                  </a:solidFill>
                  <a:latin typeface="+mn-lt"/>
                  <a:ea typeface="+mn-lt"/>
                  <a:cs typeface="+mn-lt"/>
                </a:rPr>
                <a:t> (right)).</a:t>
              </a:r>
              <a:endParaRPr lang="en-US" sz="1400">
                <a:ea typeface="+mn-lt"/>
                <a:cs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1638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3A168-93B8-DD3F-71FC-EABA889AF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/>
              <a:t>Temporal Reconstruction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800D61-ABC5-341C-7AB5-4451515F33CA}"/>
              </a:ext>
            </a:extLst>
          </p:cNvPr>
          <p:cNvGrpSpPr/>
          <p:nvPr/>
        </p:nvGrpSpPr>
        <p:grpSpPr>
          <a:xfrm>
            <a:off x="1172410" y="1480457"/>
            <a:ext cx="9882012" cy="4688318"/>
            <a:chOff x="806629" y="1480457"/>
            <a:chExt cx="9625932" cy="4566826"/>
          </a:xfrm>
        </p:grpSpPr>
        <p:pic>
          <p:nvPicPr>
            <p:cNvPr id="7" name="Picture 6" descr="A collage of images of a stadium&#10;&#10;AI-generated content may be incorrect.">
              <a:extLst>
                <a:ext uri="{FF2B5EF4-FFF2-40B4-BE49-F238E27FC236}">
                  <a16:creationId xmlns:a16="http://schemas.microsoft.com/office/drawing/2014/main" id="{1B2E369B-3418-A1D4-DC68-95CC9421B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6629" y="1480457"/>
              <a:ext cx="9622975" cy="4258356"/>
            </a:xfrm>
            <a:prstGeom prst="rect">
              <a:avLst/>
            </a:prstGeom>
            <a:noFill/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AE13E61-BE37-479A-D1CB-14A517FA89C7}"/>
                </a:ext>
              </a:extLst>
            </p:cNvPr>
            <p:cNvSpPr txBox="1"/>
            <p:nvPr/>
          </p:nvSpPr>
          <p:spPr>
            <a:xfrm>
              <a:off x="839177" y="5747482"/>
              <a:ext cx="9593384" cy="29980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defTabSz="932688"/>
              <a:r>
                <a:rPr lang="en-US" sz="1400" b="1" kern="1200" dirty="0">
                  <a:latin typeface="+mn-lt"/>
                  <a:ea typeface="+mn-lt"/>
                  <a:cs typeface="+mn-lt"/>
                </a:rPr>
                <a:t>Source</a:t>
              </a:r>
              <a:r>
                <a:rPr lang="en-US" sz="1400" kern="1200" dirty="0">
                  <a:latin typeface="+mn-lt"/>
                  <a:ea typeface="+mn-lt"/>
                  <a:cs typeface="+mn-lt"/>
                </a:rPr>
                <a:t>: </a:t>
              </a:r>
              <a:r>
                <a:rPr lang="en-US" sz="1400" kern="1200" dirty="0" err="1">
                  <a:latin typeface="+mn-lt"/>
                  <a:ea typeface="+mn-lt"/>
                  <a:cs typeface="+mn-lt"/>
                </a:rPr>
                <a:t>SatMAE</a:t>
              </a:r>
              <a:r>
                <a:rPr lang="en-US" sz="1400" kern="1200" dirty="0">
                  <a:latin typeface="+mn-lt"/>
                  <a:ea typeface="+mn-lt"/>
                  <a:cs typeface="+mn-lt"/>
                </a:rPr>
                <a:t>, Fig. 8</a:t>
              </a:r>
              <a:r>
                <a:rPr lang="en-US" sz="1400" dirty="0">
                  <a:ea typeface="+mn-lt"/>
                  <a:cs typeface="+mn-lt"/>
                </a:rPr>
                <a:t> (Reconstruction quality of no temporal encoding + IM, default + CM, default + IM).</a:t>
              </a:r>
              <a:endParaRPr lang="en-US" dirty="0"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8372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F479-45C4-9EC8-A5C2-0D8D4B54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</p:spPr>
        <p:txBody>
          <a:bodyPr anchor="ctr">
            <a:normAutofit/>
          </a:bodyPr>
          <a:lstStyle/>
          <a:p>
            <a:r>
              <a:rPr lang="en-US"/>
              <a:t>Multi-spectral Reconstruction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6712E62-A84D-662A-3874-96ED66036BEA}"/>
              </a:ext>
            </a:extLst>
          </p:cNvPr>
          <p:cNvGrpSpPr/>
          <p:nvPr/>
        </p:nvGrpSpPr>
        <p:grpSpPr>
          <a:xfrm>
            <a:off x="1055861" y="1480457"/>
            <a:ext cx="10115111" cy="4696506"/>
            <a:chOff x="683929" y="1480457"/>
            <a:chExt cx="9935049" cy="4612902"/>
          </a:xfrm>
        </p:grpSpPr>
        <p:pic>
          <p:nvPicPr>
            <p:cNvPr id="4" name="Picture 3" descr="A group of images of different colors&#10;&#10;AI-generated content may be incorrect.">
              <a:extLst>
                <a:ext uri="{FF2B5EF4-FFF2-40B4-BE49-F238E27FC236}">
                  <a16:creationId xmlns:a16="http://schemas.microsoft.com/office/drawing/2014/main" id="{F9429C9D-3CF4-ABF7-36C1-A816E2C2C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929" y="1480457"/>
              <a:ext cx="9935049" cy="4296456"/>
            </a:xfrm>
            <a:prstGeom prst="rect">
              <a:avLst/>
            </a:prstGeom>
            <a:noFill/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7D50728-E35F-1620-A8CF-0B96827415B9}"/>
                </a:ext>
              </a:extLst>
            </p:cNvPr>
            <p:cNvSpPr txBox="1"/>
            <p:nvPr/>
          </p:nvSpPr>
          <p:spPr>
            <a:xfrm>
              <a:off x="692882" y="5785582"/>
              <a:ext cx="9925538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defTabSz="923544">
                <a:spcAft>
                  <a:spcPts val="600"/>
                </a:spcAft>
              </a:pPr>
              <a:r>
                <a:rPr lang="en-US" sz="1400" b="1" kern="1200" dirty="0">
                  <a:latin typeface="+mn-lt"/>
                  <a:ea typeface="+mn-lt"/>
                  <a:cs typeface="+mn-lt"/>
                </a:rPr>
                <a:t>Source</a:t>
              </a:r>
              <a:r>
                <a:rPr lang="en-US" sz="1400" kern="1200" dirty="0">
                  <a:latin typeface="+mn-lt"/>
                  <a:ea typeface="+mn-lt"/>
                  <a:cs typeface="+mn-lt"/>
                </a:rPr>
                <a:t>: </a:t>
              </a:r>
              <a:r>
                <a:rPr lang="en-US" sz="1400" kern="1200" dirty="0" err="1">
                  <a:latin typeface="+mn-lt"/>
                  <a:ea typeface="+mn-lt"/>
                  <a:cs typeface="+mn-lt"/>
                </a:rPr>
                <a:t>SatMAE</a:t>
              </a:r>
              <a:r>
                <a:rPr lang="en-US" sz="1400" kern="1200" dirty="0">
                  <a:latin typeface="+mn-lt"/>
                  <a:ea typeface="+mn-lt"/>
                  <a:cs typeface="+mn-lt"/>
                </a:rPr>
                <a:t>, Fig. 9</a:t>
              </a:r>
              <a:r>
                <a:rPr lang="en-US" sz="1400" dirty="0">
                  <a:ea typeface="+mn-lt"/>
                  <a:cs typeface="+mn-lt"/>
                </a:rPr>
                <a:t> (In-painting quality of </a:t>
              </a:r>
              <a:r>
                <a:rPr lang="en-US" sz="1400" dirty="0" err="1">
                  <a:ea typeface="+mn-lt"/>
                  <a:cs typeface="+mn-lt"/>
                </a:rPr>
                <a:t>SatMAE+Group+IM</a:t>
              </a:r>
              <a:r>
                <a:rPr lang="en-US" sz="1400" dirty="0">
                  <a:ea typeface="+mn-lt"/>
                  <a:cs typeface="+mn-lt"/>
                </a:rPr>
                <a:t>, </a:t>
              </a:r>
              <a:r>
                <a:rPr lang="en-US" sz="1400" dirty="0" err="1">
                  <a:ea typeface="+mn-lt"/>
                  <a:cs typeface="+mn-lt"/>
                </a:rPr>
                <a:t>SatMAE+Group+CM</a:t>
              </a:r>
              <a:r>
                <a:rPr lang="en-US" sz="1400" dirty="0">
                  <a:ea typeface="+mn-lt"/>
                  <a:cs typeface="+mn-lt"/>
                </a:rPr>
                <a:t>, and </a:t>
              </a:r>
              <a:r>
                <a:rPr lang="en-US" sz="1400" dirty="0" err="1">
                  <a:ea typeface="+mn-lt"/>
                  <a:cs typeface="+mn-lt"/>
                </a:rPr>
                <a:t>SatMAE+Stack</a:t>
              </a:r>
              <a:r>
                <a:rPr lang="en-US" sz="1400" dirty="0">
                  <a:ea typeface="+mn-lt"/>
                  <a:cs typeface="+mn-lt"/>
                </a:rPr>
                <a:t>).</a:t>
              </a:r>
              <a:endParaRPr lang="en-US" sz="1400" dirty="0"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9431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BD7E-91F2-91DF-884A-86DB383D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FE43B-E472-DFED-D320-95B4975C6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SatMAE</a:t>
            </a:r>
            <a:r>
              <a:rPr lang="en-US" dirty="0">
                <a:ea typeface="+mn-lt"/>
                <a:cs typeface="+mn-lt"/>
              </a:rPr>
              <a:t> successfully adapts MAE to satellite imagery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Independent masking is crucial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Temporal + spectral encodings enable strong generalization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Works across classification, multi-label, and segmentation tasks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566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37238-DBB3-903F-3EB2-DC5C6E0F0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Limitations &amp; Future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18A15-EBC2-D522-16FD-B417D4457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Learn optimal spectral groupings (search or priors)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Better segmentation heads for </a:t>
            </a:r>
            <a:r>
              <a:rPr lang="en-US" dirty="0" err="1">
                <a:ea typeface="+mn-lt"/>
                <a:cs typeface="+mn-lt"/>
              </a:rPr>
              <a:t>ViTs</a:t>
            </a:r>
            <a:r>
              <a:rPr lang="en-US" dirty="0">
                <a:ea typeface="+mn-lt"/>
                <a:cs typeface="+mn-lt"/>
              </a:rPr>
              <a:t> [8]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Explore alternative temporal/spectral encodings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Extend to detection and dense segmentation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Study compute–accuracy trade-offs more systematically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330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7E15-FCE8-C08F-7283-E3E70ED9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References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4A453-51E8-C2CD-E709-53679426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[1]</a:t>
            </a:r>
            <a:r>
              <a:rPr lang="en-US" sz="2200" b="1" dirty="0">
                <a:ea typeface="+mn-lt"/>
                <a:cs typeface="+mn-lt"/>
              </a:rPr>
              <a:t> </a:t>
            </a:r>
            <a:r>
              <a:rPr lang="en-US" sz="2200" b="1" err="1">
                <a:ea typeface="+mn-lt"/>
                <a:cs typeface="+mn-lt"/>
              </a:rPr>
              <a:t>SatMAE</a:t>
            </a:r>
            <a:r>
              <a:rPr lang="en-US" sz="2200" b="1" dirty="0">
                <a:ea typeface="+mn-lt"/>
                <a:cs typeface="+mn-lt"/>
              </a:rPr>
              <a:t>: Pre-training Transformers for Temporal and Multi-Spectral Satellite Imagery. </a:t>
            </a:r>
            <a:r>
              <a:rPr lang="en-US" sz="2200" dirty="0">
                <a:ea typeface="+mn-lt"/>
                <a:cs typeface="+mn-lt"/>
              </a:rPr>
              <a:t>Cong, Y., Khanna, S., Meng, C., Liu, P., Rozi, E., He, Y., Burke, M., Lobell, D. B., &amp; Ermon, S.</a:t>
            </a:r>
            <a:r>
              <a:rPr lang="en-US" sz="2200" b="1" dirty="0">
                <a:ea typeface="+mn-lt"/>
                <a:cs typeface="+mn-lt"/>
              </a:rPr>
              <a:t> </a:t>
            </a:r>
            <a:r>
              <a:rPr lang="en-US" sz="2200" i="1" dirty="0">
                <a:ea typeface="+mn-lt"/>
                <a:cs typeface="+mn-lt"/>
              </a:rPr>
              <a:t>Advances in Neural Information Processing Systems (</a:t>
            </a:r>
            <a:r>
              <a:rPr lang="en-US" sz="2200" i="1" err="1">
                <a:ea typeface="+mn-lt"/>
                <a:cs typeface="+mn-lt"/>
              </a:rPr>
              <a:t>NeurIPS</a:t>
            </a:r>
            <a:r>
              <a:rPr lang="en-US" sz="2200" i="1" dirty="0">
                <a:ea typeface="+mn-lt"/>
                <a:cs typeface="+mn-lt"/>
              </a:rPr>
              <a:t>)</a:t>
            </a:r>
            <a:r>
              <a:rPr lang="en-US" sz="2200" dirty="0">
                <a:ea typeface="+mn-lt"/>
                <a:cs typeface="+mn-lt"/>
              </a:rPr>
              <a:t>, 2022.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  <a:hlinkClick r:id="rId2"/>
              </a:rPr>
              <a:t>https://openreview.net/forum?id=WBhqzpF6KYH</a:t>
            </a:r>
            <a:endParaRPr lang="en-US" sz="2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[2]</a:t>
            </a:r>
            <a:r>
              <a:rPr lang="en-US" sz="2200" b="1" dirty="0">
                <a:ea typeface="+mn-lt"/>
                <a:cs typeface="+mn-lt"/>
              </a:rPr>
              <a:t> Masked Autoencoders Are Scalable Vision Learners</a:t>
            </a:r>
            <a:r>
              <a:rPr lang="en-US" sz="2200" dirty="0">
                <a:ea typeface="+mn-lt"/>
                <a:cs typeface="+mn-lt"/>
              </a:rPr>
              <a:t>. He, K., Chen, X., Xie, S., Li, Y., </a:t>
            </a:r>
            <a:r>
              <a:rPr lang="en-US" sz="2200" err="1">
                <a:ea typeface="+mn-lt"/>
                <a:cs typeface="+mn-lt"/>
              </a:rPr>
              <a:t>Dollár</a:t>
            </a:r>
            <a:r>
              <a:rPr lang="en-US" sz="2200" dirty="0">
                <a:ea typeface="+mn-lt"/>
                <a:cs typeface="+mn-lt"/>
              </a:rPr>
              <a:t>, P., &amp; </a:t>
            </a:r>
            <a:r>
              <a:rPr lang="en-US" sz="2200" err="1">
                <a:ea typeface="+mn-lt"/>
                <a:cs typeface="+mn-lt"/>
              </a:rPr>
              <a:t>Girshick</a:t>
            </a:r>
            <a:r>
              <a:rPr lang="en-US" sz="2200" dirty="0">
                <a:ea typeface="+mn-lt"/>
                <a:cs typeface="+mn-lt"/>
              </a:rPr>
              <a:t>, R. </a:t>
            </a:r>
            <a:r>
              <a:rPr lang="en-US" sz="2200" i="1" dirty="0">
                <a:ea typeface="+mn-lt"/>
                <a:cs typeface="+mn-lt"/>
              </a:rPr>
              <a:t>Proceedings of the IEEE/CVF Conference on Computer Vision and Pattern Recognition (CVPR)</a:t>
            </a:r>
            <a:r>
              <a:rPr lang="en-US" sz="2200" dirty="0">
                <a:ea typeface="+mn-lt"/>
                <a:cs typeface="+mn-lt"/>
              </a:rPr>
              <a:t>, 2022, pp. 15979–15988. </a:t>
            </a:r>
            <a:r>
              <a:rPr lang="en-US" sz="2200" dirty="0">
                <a:ea typeface="+mn-lt"/>
                <a:cs typeface="+mn-lt"/>
                <a:hlinkClick r:id="rId3"/>
              </a:rPr>
              <a:t>https://doi.orag/10.1109/CVPR52688.2022.01553</a:t>
            </a:r>
            <a:endParaRPr lang="en-US" sz="2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[3]</a:t>
            </a:r>
            <a:r>
              <a:rPr lang="en-US" sz="2200" b="1" dirty="0">
                <a:ea typeface="+mn-lt"/>
                <a:cs typeface="+mn-lt"/>
              </a:rPr>
              <a:t> </a:t>
            </a:r>
            <a:r>
              <a:rPr lang="en-US" sz="2200" b="1" err="1">
                <a:ea typeface="+mn-lt"/>
                <a:cs typeface="+mn-lt"/>
              </a:rPr>
              <a:t>VideoMAE</a:t>
            </a:r>
            <a:r>
              <a:rPr lang="en-US" sz="2200" b="1" dirty="0">
                <a:ea typeface="+mn-lt"/>
                <a:cs typeface="+mn-lt"/>
              </a:rPr>
              <a:t>: Masked Autoencoders Are Data-Efficient Learners for Self-Supervised Video Pre-Training.</a:t>
            </a:r>
            <a:r>
              <a:rPr lang="en-US" sz="2200" dirty="0">
                <a:ea typeface="+mn-lt"/>
                <a:cs typeface="+mn-lt"/>
              </a:rPr>
              <a:t> Tong, Z., Song, Y., Wang, J., &amp; Wang, L. </a:t>
            </a:r>
            <a:r>
              <a:rPr lang="en-US" sz="2200" i="1" dirty="0">
                <a:ea typeface="+mn-lt"/>
                <a:cs typeface="+mn-lt"/>
              </a:rPr>
              <a:t>Advances in Neural Information Processing Systems (</a:t>
            </a:r>
            <a:r>
              <a:rPr lang="en-US" sz="2200" i="1" err="1">
                <a:ea typeface="+mn-lt"/>
                <a:cs typeface="+mn-lt"/>
              </a:rPr>
              <a:t>NeurIPS</a:t>
            </a:r>
            <a:r>
              <a:rPr lang="en-US" sz="2200" i="1" dirty="0">
                <a:ea typeface="+mn-lt"/>
                <a:cs typeface="+mn-lt"/>
              </a:rPr>
              <a:t>)</a:t>
            </a:r>
            <a:r>
              <a:rPr lang="en-US" sz="2200" dirty="0">
                <a:ea typeface="+mn-lt"/>
                <a:cs typeface="+mn-lt"/>
              </a:rPr>
              <a:t>, 2022. </a:t>
            </a:r>
            <a:r>
              <a:rPr lang="en-US" sz="2200" dirty="0">
                <a:ea typeface="+mn-lt"/>
                <a:cs typeface="+mn-lt"/>
                <a:hlinkClick r:id="rId4"/>
              </a:rPr>
              <a:t>https://doi.org/10.48550/arXiv.2203.12602</a:t>
            </a:r>
            <a:endParaRPr lang="en-US" sz="2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[4] </a:t>
            </a:r>
            <a:r>
              <a:rPr lang="en-US" sz="2200" b="1" err="1">
                <a:ea typeface="+mn-lt"/>
                <a:cs typeface="+mn-lt"/>
              </a:rPr>
              <a:t>MultiMAE</a:t>
            </a:r>
            <a:r>
              <a:rPr lang="en-US" sz="2200" b="1" dirty="0">
                <a:ea typeface="+mn-lt"/>
                <a:cs typeface="+mn-lt"/>
              </a:rPr>
              <a:t>: Multi-modal Multi-task Masked Autoencoders.</a:t>
            </a:r>
            <a:r>
              <a:rPr lang="en-US" sz="2200" dirty="0">
                <a:ea typeface="+mn-lt"/>
                <a:cs typeface="+mn-lt"/>
              </a:rPr>
              <a:t> Bachmann, R., Mizrahi, D., </a:t>
            </a:r>
            <a:r>
              <a:rPr lang="en-US" sz="2200" err="1">
                <a:ea typeface="+mn-lt"/>
                <a:cs typeface="+mn-lt"/>
              </a:rPr>
              <a:t>Atanov</a:t>
            </a:r>
            <a:r>
              <a:rPr lang="en-US" sz="2200" dirty="0">
                <a:ea typeface="+mn-lt"/>
                <a:cs typeface="+mn-lt"/>
              </a:rPr>
              <a:t>, A., &amp; Zamir, A. </a:t>
            </a:r>
            <a:r>
              <a:rPr lang="en-US" sz="2200" i="1" dirty="0">
                <a:ea typeface="+mn-lt"/>
                <a:cs typeface="+mn-lt"/>
              </a:rPr>
              <a:t>European Conference on Computer Vision (ECCV)</a:t>
            </a:r>
            <a:r>
              <a:rPr lang="en-US" sz="2200" dirty="0">
                <a:ea typeface="+mn-lt"/>
                <a:cs typeface="+mn-lt"/>
              </a:rPr>
              <a:t>, 2022. </a:t>
            </a:r>
            <a:r>
              <a:rPr lang="en-US" sz="2200" dirty="0">
                <a:ea typeface="+mn-lt"/>
                <a:cs typeface="+mn-lt"/>
                <a:hlinkClick r:id="rId5"/>
              </a:rPr>
              <a:t>https://doi.org/10.48550/arXiv.2204.01678</a:t>
            </a:r>
            <a:endParaRPr lang="en-US" sz="2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600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ECC44-E7B4-52F6-A34F-C5ED45D0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References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5A5DB-4115-A143-83E6-7E36FA526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[5] </a:t>
            </a:r>
            <a:r>
              <a:rPr lang="en-US" sz="2200" b="1" dirty="0">
                <a:ea typeface="+mn-lt"/>
                <a:cs typeface="+mn-lt"/>
              </a:rPr>
              <a:t>Introducing </a:t>
            </a:r>
            <a:r>
              <a:rPr lang="en-US" sz="2200" b="1" dirty="0" err="1">
                <a:ea typeface="+mn-lt"/>
                <a:cs typeface="+mn-lt"/>
              </a:rPr>
              <a:t>EuroSAT</a:t>
            </a:r>
            <a:r>
              <a:rPr lang="en-US" sz="2200" b="1" dirty="0">
                <a:ea typeface="+mn-lt"/>
                <a:cs typeface="+mn-lt"/>
              </a:rPr>
              <a:t>: A Novel Dataset and Deep Learning Benchmark for Land Use and Land Cover Classification. </a:t>
            </a:r>
            <a:r>
              <a:rPr lang="en-US" sz="2200" dirty="0">
                <a:ea typeface="+mn-lt"/>
                <a:cs typeface="+mn-lt"/>
              </a:rPr>
              <a:t>Helber, P., Bischke, B., Dengel, A., &amp; Borth, D. </a:t>
            </a:r>
            <a:r>
              <a:rPr lang="en-US" sz="2200" i="1" dirty="0">
                <a:ea typeface="+mn-lt"/>
                <a:cs typeface="+mn-lt"/>
              </a:rPr>
              <a:t>IGARSS 2018 - IEEE International Geoscience and Remote Sensing Symposium</a:t>
            </a:r>
            <a:r>
              <a:rPr lang="en-US" sz="2200" dirty="0">
                <a:ea typeface="+mn-lt"/>
                <a:cs typeface="+mn-lt"/>
              </a:rPr>
              <a:t>, 2018, pp. 204–207. </a:t>
            </a:r>
            <a:r>
              <a:rPr lang="en-US" sz="2200" dirty="0">
                <a:ea typeface="+mn-lt"/>
                <a:cs typeface="+mn-lt"/>
                <a:hlinkClick r:id="rId2"/>
              </a:rPr>
              <a:t>https://doi.org/10.1109/IGARSS.2018.8519248</a:t>
            </a:r>
            <a:endParaRPr lang="en-US" sz="2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[6] </a:t>
            </a:r>
            <a:r>
              <a:rPr lang="en-US" sz="2200" b="1" err="1">
                <a:ea typeface="+mn-lt"/>
                <a:cs typeface="+mn-lt"/>
              </a:rPr>
              <a:t>BigEarthNet</a:t>
            </a:r>
            <a:r>
              <a:rPr lang="en-US" sz="2200" b="1" dirty="0">
                <a:ea typeface="+mn-lt"/>
                <a:cs typeface="+mn-lt"/>
              </a:rPr>
              <a:t>: A Large-Scale Benchmark Archive for Remote Sensing Image Understanding</a:t>
            </a:r>
            <a:r>
              <a:rPr lang="en-US" sz="2200" dirty="0">
                <a:ea typeface="+mn-lt"/>
                <a:cs typeface="+mn-lt"/>
              </a:rPr>
              <a:t>. Sumbul, G., </a:t>
            </a:r>
            <a:r>
              <a:rPr lang="en-US" sz="2200" err="1">
                <a:ea typeface="+mn-lt"/>
                <a:cs typeface="+mn-lt"/>
              </a:rPr>
              <a:t>Charfuelan</a:t>
            </a:r>
            <a:r>
              <a:rPr lang="en-US" sz="2200" dirty="0">
                <a:ea typeface="+mn-lt"/>
                <a:cs typeface="+mn-lt"/>
              </a:rPr>
              <a:t>, M., Demir, B., &amp; Markl, V. </a:t>
            </a:r>
            <a:r>
              <a:rPr lang="en-US" sz="2200" i="1" dirty="0">
                <a:ea typeface="+mn-lt"/>
                <a:cs typeface="+mn-lt"/>
              </a:rPr>
              <a:t>IGARSS 2019 - IEEE International Geoscience and Remote Sensing Symposium</a:t>
            </a:r>
            <a:r>
              <a:rPr lang="en-US" sz="2200" dirty="0">
                <a:ea typeface="+mn-lt"/>
                <a:cs typeface="+mn-lt"/>
              </a:rPr>
              <a:t>, 2019, pp. 5901–5904. </a:t>
            </a:r>
            <a:r>
              <a:rPr lang="en-US" sz="2200" dirty="0">
                <a:ea typeface="+mn-lt"/>
                <a:cs typeface="+mn-lt"/>
                <a:hlinkClick r:id="rId3"/>
              </a:rPr>
              <a:t>https://doi.org/10.1109/IGARSS.2019.8900532</a:t>
            </a:r>
            <a:endParaRPr lang="en-US" sz="2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[7] </a:t>
            </a:r>
            <a:r>
              <a:rPr lang="en-US" sz="2200" b="1" err="1">
                <a:ea typeface="+mn-lt"/>
                <a:cs typeface="+mn-lt"/>
              </a:rPr>
              <a:t>SpaceNet</a:t>
            </a:r>
            <a:r>
              <a:rPr lang="en-US" sz="2200" b="1" dirty="0">
                <a:ea typeface="+mn-lt"/>
                <a:cs typeface="+mn-lt"/>
              </a:rPr>
              <a:t>: A Remote Sensing Dataset and Challenge Series. </a:t>
            </a:r>
            <a:r>
              <a:rPr lang="en-US" sz="2200" dirty="0">
                <a:ea typeface="+mn-lt"/>
                <a:cs typeface="+mn-lt"/>
              </a:rPr>
              <a:t>Etten, A., Lindenbaum, D., &amp; Bacastow, T. </a:t>
            </a:r>
            <a:r>
              <a:rPr lang="en-US" sz="2200" i="1" err="1">
                <a:ea typeface="+mn-lt"/>
                <a:cs typeface="+mn-lt"/>
              </a:rPr>
              <a:t>arXiv</a:t>
            </a:r>
            <a:r>
              <a:rPr lang="en-US" sz="2200" i="1" dirty="0">
                <a:ea typeface="+mn-lt"/>
                <a:cs typeface="+mn-lt"/>
              </a:rPr>
              <a:t> preprint</a:t>
            </a:r>
            <a:r>
              <a:rPr lang="en-US" sz="2200" dirty="0">
                <a:ea typeface="+mn-lt"/>
                <a:cs typeface="+mn-lt"/>
              </a:rPr>
              <a:t>, July 2018. </a:t>
            </a:r>
            <a:r>
              <a:rPr lang="en-US" sz="2200" dirty="0">
                <a:ea typeface="+mn-lt"/>
                <a:cs typeface="+mn-lt"/>
                <a:hlinkClick r:id="rId4"/>
              </a:rPr>
              <a:t>https://doi.org/10.48550/arXiv.1807.01232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200" dirty="0">
                <a:ea typeface="Calibri" panose="020F0502020204030204"/>
                <a:cs typeface="Calibri" panose="020F0502020204030204"/>
              </a:rPr>
              <a:t>[8] </a:t>
            </a:r>
            <a:r>
              <a:rPr lang="en-US" sz="2200" b="1" dirty="0">
                <a:ea typeface="+mn-lt"/>
                <a:cs typeface="+mn-lt"/>
              </a:rPr>
              <a:t>An Image is Worth 16x16 Words: Transformers for Image Recognition at Scale.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Dosovitskiy</a:t>
            </a:r>
            <a:r>
              <a:rPr lang="en-US" sz="2200" dirty="0">
                <a:ea typeface="+mn-lt"/>
                <a:cs typeface="+mn-lt"/>
              </a:rPr>
              <a:t>, A., Beyer, L., Kolesnikov, A., Weissenborn, D., Zhai, X., </a:t>
            </a:r>
            <a:r>
              <a:rPr lang="en-US" sz="2200" err="1">
                <a:ea typeface="+mn-lt"/>
                <a:cs typeface="+mn-lt"/>
              </a:rPr>
              <a:t>Unterthiner</a:t>
            </a:r>
            <a:r>
              <a:rPr lang="en-US" sz="2200" dirty="0">
                <a:ea typeface="+mn-lt"/>
                <a:cs typeface="+mn-lt"/>
              </a:rPr>
              <a:t>, T., Dehghani, M., </a:t>
            </a:r>
            <a:r>
              <a:rPr lang="en-US" sz="2200" err="1">
                <a:ea typeface="+mn-lt"/>
                <a:cs typeface="+mn-lt"/>
              </a:rPr>
              <a:t>Minderer</a:t>
            </a:r>
            <a:r>
              <a:rPr lang="en-US" sz="2200" dirty="0">
                <a:ea typeface="+mn-lt"/>
                <a:cs typeface="+mn-lt"/>
              </a:rPr>
              <a:t>, M., </a:t>
            </a:r>
            <a:r>
              <a:rPr lang="en-US" sz="2200" err="1">
                <a:ea typeface="+mn-lt"/>
                <a:cs typeface="+mn-lt"/>
              </a:rPr>
              <a:t>Heigold</a:t>
            </a:r>
            <a:r>
              <a:rPr lang="en-US" sz="2200" dirty="0">
                <a:ea typeface="+mn-lt"/>
                <a:cs typeface="+mn-lt"/>
              </a:rPr>
              <a:t>, G., Gelly, S., </a:t>
            </a:r>
            <a:r>
              <a:rPr lang="en-US" sz="2200" err="1">
                <a:ea typeface="+mn-lt"/>
                <a:cs typeface="+mn-lt"/>
              </a:rPr>
              <a:t>Uszkoreit</a:t>
            </a:r>
            <a:r>
              <a:rPr lang="en-US" sz="2200" dirty="0">
                <a:ea typeface="+mn-lt"/>
                <a:cs typeface="+mn-lt"/>
              </a:rPr>
              <a:t>, J., &amp; </a:t>
            </a:r>
            <a:r>
              <a:rPr lang="en-US" sz="2200" err="1">
                <a:ea typeface="+mn-lt"/>
                <a:cs typeface="+mn-lt"/>
              </a:rPr>
              <a:t>Houlsby</a:t>
            </a:r>
            <a:r>
              <a:rPr lang="en-US" sz="2200" dirty="0">
                <a:ea typeface="+mn-lt"/>
                <a:cs typeface="+mn-lt"/>
              </a:rPr>
              <a:t>, N. </a:t>
            </a:r>
            <a:r>
              <a:rPr lang="en-US" sz="2200" i="1" dirty="0">
                <a:ea typeface="+mn-lt"/>
                <a:cs typeface="+mn-lt"/>
              </a:rPr>
              <a:t>International Conference on Learning Representations (ICLR)</a:t>
            </a:r>
            <a:r>
              <a:rPr lang="en-US" sz="2200" dirty="0">
                <a:ea typeface="+mn-lt"/>
                <a:cs typeface="+mn-lt"/>
              </a:rPr>
              <a:t>, 2021. </a:t>
            </a:r>
            <a:r>
              <a:rPr lang="en-US" sz="2200" dirty="0">
                <a:ea typeface="+mn-lt"/>
                <a:cs typeface="+mn-lt"/>
                <a:hlinkClick r:id="rId5"/>
              </a:rPr>
              <a:t>https://doi.org/10.48550/arXiv.2010.11929</a:t>
            </a:r>
            <a:r>
              <a:rPr lang="en-US" sz="2200" dirty="0">
                <a:ea typeface="+mn-lt"/>
                <a:cs typeface="+mn-lt"/>
              </a:rPr>
              <a:t>  </a:t>
            </a:r>
          </a:p>
          <a:p>
            <a:pPr marL="514350" indent="-514350">
              <a:buAutoNum type="arabicPeriod"/>
            </a:pPr>
            <a:endParaRPr lang="en-US" sz="2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09488904"/>
      </p:ext>
    </p:extLst>
  </p:cSld>
  <p:clrMapOvr>
    <a:masterClrMapping/>
  </p:clrMapOvr>
</p:sld>
</file>

<file path=ppt/theme/theme1.xml><?xml version="1.0" encoding="utf-8"?>
<a:theme xmlns:a="http://schemas.openxmlformats.org/drawingml/2006/main" name="cov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vis" id="{E97EAE5A-6ED3-40F8-8572-7C2171E4477C}" vid="{BC0DEF65-8CF8-4D97-943E-B1B9C0AA3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covis</Template>
  <TotalTime>14721</TotalTime>
  <Words>1325</Words>
  <Application>Microsoft Office PowerPoint</Application>
  <PresentationFormat>Widescreen</PresentationFormat>
  <Paragraphs>178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covis</vt:lpstr>
      <vt:lpstr>SatMAE: Pre-training Transformers for Temporal and Multi-Spectral Satellite Imagery [1]</vt:lpstr>
      <vt:lpstr>Why Satellite Imagery is Hard</vt:lpstr>
      <vt:lpstr>Why Existing SSL Falls Short</vt:lpstr>
      <vt:lpstr>Prior Work Landscape</vt:lpstr>
      <vt:lpstr>Masked Autoencoders (MAE)</vt:lpstr>
      <vt:lpstr>Why MAE Needs Adaptation</vt:lpstr>
      <vt:lpstr>Temporal SatMAE</vt:lpstr>
      <vt:lpstr>Temporal SatMAE Architecture</vt:lpstr>
      <vt:lpstr>Temporal Positional Encoding</vt:lpstr>
      <vt:lpstr>Masking in Temporal Data</vt:lpstr>
      <vt:lpstr>Masking in Temporal/Spectral Data</vt:lpstr>
      <vt:lpstr>Why Independent Masking Works Better</vt:lpstr>
      <vt:lpstr>Multi-Spectral Challenge</vt:lpstr>
      <vt:lpstr>Spectral Grouping</vt:lpstr>
      <vt:lpstr>fMoW RGB (non-)Temporal Results</vt:lpstr>
      <vt:lpstr>Multi-Spectral Results</vt:lpstr>
      <vt:lpstr>Transfer Learning Overview</vt:lpstr>
      <vt:lpstr>Transfer Learning Results</vt:lpstr>
      <vt:lpstr>Reconstruction Quality (IM vs. CM)</vt:lpstr>
      <vt:lpstr>Temporal Reconstruction</vt:lpstr>
      <vt:lpstr>Multi-spectral Reconstruction</vt:lpstr>
      <vt:lpstr>Key Takeaways</vt:lpstr>
      <vt:lpstr>Limitations &amp; Future Work</vt:lpstr>
      <vt:lpstr>References</vt:lpstr>
      <vt:lpstr>References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 of Point Sets with Large and Uneven Non-Rigid Deformation</dc:title>
  <dc:creator>Maharjan, Amar</dc:creator>
  <cp:lastModifiedBy>Venkatasivareddy, Karthik</cp:lastModifiedBy>
  <cp:revision>735</cp:revision>
  <dcterms:created xsi:type="dcterms:W3CDTF">2022-07-19T22:32:27Z</dcterms:created>
  <dcterms:modified xsi:type="dcterms:W3CDTF">2026-01-18T04:29:05Z</dcterms:modified>
</cp:coreProperties>
</file>