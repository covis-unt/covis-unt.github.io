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379" r:id="rId2"/>
    <p:sldId id="377" r:id="rId3"/>
    <p:sldId id="390" r:id="rId4"/>
    <p:sldId id="391" r:id="rId5"/>
    <p:sldId id="385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8" autoAdjust="0"/>
    <p:restoredTop sz="93022" autoAdjust="0"/>
  </p:normalViewPr>
  <p:slideViewPr>
    <p:cSldViewPr snapToGrid="0">
      <p:cViewPr varScale="1">
        <p:scale>
          <a:sx n="144" d="100"/>
          <a:sy n="144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 title of the paper, author, 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Your Name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3/1/2026 12:57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122362"/>
            <a:ext cx="10248900" cy="3144838"/>
          </a:xfrm>
        </p:spPr>
        <p:txBody>
          <a:bodyPr>
            <a:normAutofit/>
          </a:bodyPr>
          <a:lstStyle/>
          <a:p>
            <a:r>
              <a:rPr lang="en-US" dirty="0"/>
              <a:t>Part-Aware Articulated Transformer (PAT)</a:t>
            </a:r>
            <a:br>
              <a:rPr lang="en-US" dirty="0"/>
            </a:br>
            <a:r>
              <a:rPr lang="en-US" sz="2200" dirty="0"/>
              <a:t>A Transformer-Based Framework for Non-Rigid Registration of Human Point Clouds</a:t>
            </a: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endParaRPr lang="en-US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New method based on DIT</a:t>
            </a:r>
            <a:r>
              <a:rPr lang="en-US" baseline="30000" dirty="0"/>
              <a:t>1</a:t>
            </a:r>
            <a:r>
              <a:rPr lang="en-US" dirty="0"/>
              <a:t> by Karthik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FB8E5-29CC-F801-62D1-5DACCC996F65}"/>
              </a:ext>
            </a:extLst>
          </p:cNvPr>
          <p:cNvSpPr txBox="1"/>
          <p:nvPr/>
        </p:nvSpPr>
        <p:spPr>
          <a:xfrm>
            <a:off x="0" y="593467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Neue Regular"/>
              </a:rPr>
              <a:t>[1] G. Chen, M. Wang, Q. Zhang, L. Yuan and Y. Yue, "Full Transformer Framework for Robust Point Cloud Registration With Deep Information Interaction," in </a:t>
            </a:r>
            <a:r>
              <a:rPr lang="en-US" b="0" i="1" dirty="0">
                <a:solidFill>
                  <a:srgbClr val="333333"/>
                </a:solidFill>
                <a:effectLst/>
                <a:latin typeface="HelveticaNeue Regular"/>
              </a:rPr>
              <a:t>IEEE Transactions on Neural Networks and Learning Systems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Neue Regular"/>
              </a:rPr>
              <a:t>, vol. 35, no. 10, pp. 13368-13382, Oct. 2024,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Neue Regular"/>
              </a:rPr>
              <a:t>: 10.1109/TNNLS.2023.3267333.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204F2-8BC1-7938-94BA-E359953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DC5294-6F86-C892-853E-81671A81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Why Non-Rigid Registration?</a:t>
            </a:r>
          </a:p>
          <a:p>
            <a:pPr lvl="1"/>
            <a:r>
              <a:rPr lang="en-US" dirty="0"/>
              <a:t>Human motion involves articulated movements (e.g., bending limbs)</a:t>
            </a:r>
          </a:p>
          <a:p>
            <a:pPr lvl="1"/>
            <a:r>
              <a:rPr lang="en-US" dirty="0"/>
              <a:t>Requires alignment of scans with occlusions and pose variations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Large, uneven deformations</a:t>
            </a:r>
          </a:p>
          <a:p>
            <a:pPr lvl="1"/>
            <a:r>
              <a:rPr lang="en-US" dirty="0"/>
              <a:t>Partial observations and local ambiguity in point clouds</a:t>
            </a:r>
          </a:p>
          <a:p>
            <a:r>
              <a:rPr lang="en-US" dirty="0"/>
              <a:t>Architecture of the method</a:t>
            </a:r>
          </a:p>
          <a:p>
            <a:pPr lvl="1"/>
            <a:r>
              <a:rPr lang="en-US" dirty="0"/>
              <a:t>Key Idea: Decompose motion into part-level transforms</a:t>
            </a:r>
          </a:p>
          <a:p>
            <a:pPr lvl="1"/>
            <a:r>
              <a:rPr lang="en-US" dirty="0"/>
              <a:t>Four Key Components:</a:t>
            </a:r>
          </a:p>
          <a:p>
            <a:pPr lvl="2"/>
            <a:r>
              <a:rPr lang="en-US" dirty="0"/>
              <a:t>Unsupervised Part Segmentation</a:t>
            </a:r>
          </a:p>
          <a:p>
            <a:pPr lvl="2"/>
            <a:r>
              <a:rPr lang="en-US" dirty="0"/>
              <a:t>Feature Encoding</a:t>
            </a:r>
          </a:p>
          <a:p>
            <a:pPr lvl="2"/>
            <a:r>
              <a:rPr lang="en-US" dirty="0"/>
              <a:t>Part-wise Transformer Regression</a:t>
            </a:r>
          </a:p>
          <a:p>
            <a:pPr lvl="2"/>
            <a:r>
              <a:rPr lang="en-US" dirty="0"/>
              <a:t>Kinematic Refinement &amp; Warping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2983-FA2A-4C61-5605-2F073423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Segmentation and Feature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853EA-E9EF-5187-4171-0837C8EF3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Unsupervised Part Segmentation</a:t>
            </a:r>
          </a:p>
          <a:p>
            <a:pPr lvl="1"/>
            <a:r>
              <a:rPr lang="en-US" dirty="0"/>
              <a:t>Network: Small MLP to output soft part assignments</a:t>
            </a:r>
          </a:p>
          <a:p>
            <a:pPr lvl="1"/>
            <a:r>
              <a:rPr lang="en-US" dirty="0"/>
              <a:t>Output: Per-point </a:t>
            </a:r>
            <a:r>
              <a:rPr lang="en-US" dirty="0" err="1"/>
              <a:t>softmax</a:t>
            </a:r>
            <a:r>
              <a:rPr lang="en-US" dirty="0"/>
              <a:t> probabilities over K parts</a:t>
            </a:r>
          </a:p>
          <a:p>
            <a:pPr lvl="1"/>
            <a:r>
              <a:rPr lang="en-US" dirty="0"/>
              <a:t>Losses: Entropy + KL balance regularization</a:t>
            </a:r>
          </a:p>
          <a:p>
            <a:r>
              <a:rPr lang="en-US" dirty="0"/>
              <a:t>Feature Encoder</a:t>
            </a:r>
          </a:p>
          <a:p>
            <a:pPr lvl="1"/>
            <a:r>
              <a:rPr lang="en-US" dirty="0"/>
              <a:t>Purpose: Extract per-point features with local geometry</a:t>
            </a:r>
          </a:p>
          <a:p>
            <a:pPr lvl="1"/>
            <a:r>
              <a:rPr lang="en-US" dirty="0"/>
              <a:t>Architecture: MLP with increasing dimensions</a:t>
            </a:r>
          </a:p>
          <a:p>
            <a:pPr lvl="1"/>
            <a:r>
              <a:rPr lang="en-US" dirty="0"/>
              <a:t>Integration: Shared across source and target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5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06D78-6F62-1238-937E-8229B5D7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79BA-DC51-2BB9-C8E8-0163079B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Part-wise Transformer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C8718-A1BF-8C70-715D-97E9FA006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Part-wise Transformer Regression</a:t>
            </a:r>
          </a:p>
          <a:p>
            <a:pPr lvl="1"/>
            <a:r>
              <a:rPr lang="en-US" dirty="0"/>
              <a:t>Part Feature Aggregation</a:t>
            </a:r>
          </a:p>
          <a:p>
            <a:pPr lvl="2"/>
            <a:r>
              <a:rPr lang="en-US" dirty="0"/>
              <a:t>Technique: Weighted average of point features per part</a:t>
            </a:r>
          </a:p>
          <a:p>
            <a:pPr lvl="2"/>
            <a:r>
              <a:rPr lang="en-US" dirty="0"/>
              <a:t>Formula: Soft assignment matrix multiplies feature map</a:t>
            </a:r>
          </a:p>
          <a:p>
            <a:pPr lvl="2"/>
            <a:r>
              <a:rPr lang="en-US" dirty="0"/>
              <a:t>Benefits: Allows overlapping assignments and part uncertainty</a:t>
            </a:r>
          </a:p>
          <a:p>
            <a:pPr lvl="1"/>
            <a:r>
              <a:rPr lang="en-US" dirty="0"/>
              <a:t>Input: Source and target part features</a:t>
            </a:r>
          </a:p>
          <a:p>
            <a:pPr lvl="1"/>
            <a:r>
              <a:rPr lang="en-US" dirty="0"/>
              <a:t>Processing: Transformer encoder over concatenated inputs</a:t>
            </a:r>
          </a:p>
          <a:p>
            <a:pPr lvl="1"/>
            <a:r>
              <a:rPr lang="en-US" dirty="0"/>
              <a:t>Output: Rigid transformation per part (6-DoF)</a:t>
            </a:r>
          </a:p>
          <a:p>
            <a:r>
              <a:rPr lang="en-US" dirty="0"/>
              <a:t>Consistency Refinement and Warping</a:t>
            </a:r>
          </a:p>
          <a:p>
            <a:pPr lvl="1"/>
            <a:r>
              <a:rPr lang="en-US" dirty="0"/>
              <a:t>Motivation: Enforce smoother transitions across joints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A3E52D-BB71-DAFC-4906-94B600926CC6}"/>
              </a:ext>
            </a:extLst>
          </p:cNvPr>
          <p:cNvSpPr/>
          <p:nvPr/>
        </p:nvSpPr>
        <p:spPr>
          <a:xfrm>
            <a:off x="1328928" y="2261616"/>
            <a:ext cx="7516368" cy="145084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3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C5FF-37F0-67B9-4CDE-0CC5A2EE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Consistency Refinement and Warping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53020-4F9B-EB92-D96F-8285318C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Method: GNN-style residual updates based on part features + transforms</a:t>
            </a:r>
          </a:p>
          <a:p>
            <a:r>
              <a:rPr lang="en-US" dirty="0"/>
              <a:t>Operation:</a:t>
            </a:r>
          </a:p>
          <a:p>
            <a:pPr lvl="1"/>
            <a:r>
              <a:rPr lang="en-US" dirty="0"/>
              <a:t>Convert rotation vectors to matrices (Rodrigues)</a:t>
            </a:r>
          </a:p>
          <a:p>
            <a:pPr lvl="1"/>
            <a:r>
              <a:rPr lang="en-US" dirty="0"/>
              <a:t>Apply weighted part transforms</a:t>
            </a:r>
          </a:p>
          <a:p>
            <a:r>
              <a:rPr lang="en-US" dirty="0"/>
              <a:t>Output: Warped source point cloud</a:t>
            </a:r>
          </a:p>
          <a:p>
            <a:endParaRPr lang="en-US" dirty="0"/>
          </a:p>
          <a:p>
            <a:r>
              <a:rPr lang="en-US" u="sng" dirty="0"/>
              <a:t>Loss Function</a:t>
            </a:r>
            <a:r>
              <a:rPr lang="en-US" dirty="0"/>
              <a:t>: Unsupervised Loss</a:t>
            </a:r>
          </a:p>
          <a:p>
            <a:pPr lvl="1"/>
            <a:r>
              <a:rPr lang="en-US" dirty="0"/>
              <a:t>Chamfer Distance</a:t>
            </a:r>
          </a:p>
          <a:p>
            <a:pPr lvl="1"/>
            <a:r>
              <a:rPr lang="en-US" dirty="0"/>
              <a:t>Optimal Transport</a:t>
            </a:r>
          </a:p>
          <a:p>
            <a:pPr lvl="1"/>
            <a:r>
              <a:rPr lang="en-US" dirty="0"/>
              <a:t>ARAP rigidity</a:t>
            </a:r>
          </a:p>
          <a:p>
            <a:pPr lvl="1"/>
            <a:r>
              <a:rPr lang="en-US" dirty="0"/>
              <a:t>Transform and probability smoothness</a:t>
            </a:r>
          </a:p>
          <a:p>
            <a:pPr lvl="1"/>
            <a:r>
              <a:rPr lang="en-US" dirty="0"/>
              <a:t>Entropy + KL divergence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7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0654-7C28-2A56-B02E-CB7FDF00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AC696-8754-BA04-8298-E237FF220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63130" cy="4351338"/>
          </a:xfrm>
        </p:spPr>
        <p:txBody>
          <a:bodyPr/>
          <a:lstStyle/>
          <a:p>
            <a:r>
              <a:rPr lang="en-US" b="1" dirty="0"/>
              <a:t>Datasets:</a:t>
            </a:r>
            <a:r>
              <a:rPr lang="en-US" dirty="0"/>
              <a:t> DFAUST</a:t>
            </a:r>
          </a:p>
          <a:p>
            <a:r>
              <a:rPr lang="en-US" b="1" dirty="0"/>
              <a:t>Strategy:</a:t>
            </a:r>
            <a:r>
              <a:rPr lang="en-US" dirty="0"/>
              <a:t> Two-stage training with progressive weight tuning</a:t>
            </a:r>
          </a:p>
          <a:p>
            <a:r>
              <a:rPr lang="en-US" b="1" dirty="0"/>
              <a:t>Metrics:</a:t>
            </a:r>
            <a:r>
              <a:rPr lang="en-US" dirty="0"/>
              <a:t> Chamfer, F-score, EPE, </a:t>
            </a:r>
            <a:r>
              <a:rPr lang="en-US" dirty="0" err="1"/>
              <a:t>Acc@Thresholds</a:t>
            </a:r>
            <a:endParaRPr lang="en-US" dirty="0"/>
          </a:p>
        </p:txBody>
      </p:sp>
      <p:pic>
        <p:nvPicPr>
          <p:cNvPr id="4" name="Content Placeholder 6" descr="A green and red dotted human body&#10;&#10;AI-generated content may be incorrect.">
            <a:extLst>
              <a:ext uri="{FF2B5EF4-FFF2-40B4-BE49-F238E27FC236}">
                <a16:creationId xmlns:a16="http://schemas.microsoft.com/office/drawing/2014/main" id="{2284C622-7C06-640B-06E9-3AFE59EC3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2" t="1" r="7137" b="1537"/>
          <a:stretch>
            <a:fillRect/>
          </a:stretch>
        </p:blipFill>
        <p:spPr>
          <a:xfrm>
            <a:off x="4542916" y="1773545"/>
            <a:ext cx="1828800" cy="3429000"/>
          </a:xfrm>
          <a:prstGeom prst="rect">
            <a:avLst/>
          </a:prstGeom>
        </p:spPr>
      </p:pic>
      <p:pic>
        <p:nvPicPr>
          <p:cNvPr id="5" name="Content Placeholder 8" descr="A person in a body suit&#10;&#10;AI-generated content may be incorrect.">
            <a:extLst>
              <a:ext uri="{FF2B5EF4-FFF2-40B4-BE49-F238E27FC236}">
                <a16:creationId xmlns:a16="http://schemas.microsoft.com/office/drawing/2014/main" id="{9115B25E-20AA-211C-A3E6-97A6B56E4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2" t="1" r="7137" b="1537"/>
          <a:stretch>
            <a:fillRect/>
          </a:stretch>
        </p:blipFill>
        <p:spPr>
          <a:xfrm>
            <a:off x="6408660" y="1773545"/>
            <a:ext cx="1828800" cy="3429000"/>
          </a:xfrm>
          <a:prstGeom prst="rect">
            <a:avLst/>
          </a:prstGeom>
        </p:spPr>
      </p:pic>
      <p:pic>
        <p:nvPicPr>
          <p:cNvPr id="6" name="Content Placeholder 4" descr="A person in a body suit&#10;&#10;AI-generated content may be incorrect.">
            <a:extLst>
              <a:ext uri="{FF2B5EF4-FFF2-40B4-BE49-F238E27FC236}">
                <a16:creationId xmlns:a16="http://schemas.microsoft.com/office/drawing/2014/main" id="{C1A16F75-6988-E2F2-C111-9132107B5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2" r="11328" b="3474"/>
          <a:stretch>
            <a:fillRect/>
          </a:stretch>
        </p:blipFill>
        <p:spPr>
          <a:xfrm>
            <a:off x="8579343" y="1690688"/>
            <a:ext cx="1737360" cy="3520440"/>
          </a:xfrm>
          <a:prstGeom prst="rect">
            <a:avLst/>
          </a:prstGeom>
        </p:spPr>
      </p:pic>
      <p:pic>
        <p:nvPicPr>
          <p:cNvPr id="7" name="Content Placeholder 18" descr="A person in a suit&#10;&#10;AI-generated content may be incorrect.">
            <a:extLst>
              <a:ext uri="{FF2B5EF4-FFF2-40B4-BE49-F238E27FC236}">
                <a16:creationId xmlns:a16="http://schemas.microsoft.com/office/drawing/2014/main" id="{38205BA0-05F2-16BD-2D25-6EEF020D1A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4" r="23416" b="4727"/>
          <a:stretch>
            <a:fillRect/>
          </a:stretch>
        </p:blipFill>
        <p:spPr>
          <a:xfrm>
            <a:off x="10366780" y="1736408"/>
            <a:ext cx="12801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26781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1120</TotalTime>
  <Words>372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HelveticaNeue Regular</vt:lpstr>
      <vt:lpstr>Arial</vt:lpstr>
      <vt:lpstr>Calibri</vt:lpstr>
      <vt:lpstr>Calibri Light</vt:lpstr>
      <vt:lpstr>covis</vt:lpstr>
      <vt:lpstr>Part-Aware Articulated Transformer (PAT) A Transformer-Based Framework for Non-Rigid Registration of Human Point Clouds     </vt:lpstr>
      <vt:lpstr>Motivation &amp; Problem Statement</vt:lpstr>
      <vt:lpstr>Part Segmentation and Feature Encoder</vt:lpstr>
      <vt:lpstr>Part-wise Transformer Regression</vt:lpstr>
      <vt:lpstr>Consistency Refinement and Warping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Yuan, Xiaohui</cp:lastModifiedBy>
  <cp:revision>26</cp:revision>
  <dcterms:created xsi:type="dcterms:W3CDTF">2022-07-19T22:32:27Z</dcterms:created>
  <dcterms:modified xsi:type="dcterms:W3CDTF">2026-03-01T19:21:12Z</dcterms:modified>
</cp:coreProperties>
</file>