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379" r:id="rId2"/>
    <p:sldId id="377" r:id="rId3"/>
    <p:sldId id="382" r:id="rId4"/>
    <p:sldId id="383" r:id="rId5"/>
    <p:sldId id="387" r:id="rId6"/>
    <p:sldId id="384" r:id="rId7"/>
    <p:sldId id="385" r:id="rId8"/>
    <p:sldId id="386" r:id="rId9"/>
    <p:sldId id="392" r:id="rId10"/>
    <p:sldId id="39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EDF7"/>
    <a:srgbClr val="FB7700"/>
    <a:srgbClr val="235729"/>
    <a:srgbClr val="145A14"/>
    <a:srgbClr val="236423"/>
    <a:srgbClr val="295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69" autoAdjust="0"/>
    <p:restoredTop sz="92857" autoAdjust="0"/>
  </p:normalViewPr>
  <p:slideViewPr>
    <p:cSldViewPr snapToGrid="0">
      <p:cViewPr varScale="1">
        <p:scale>
          <a:sx n="156" d="100"/>
          <a:sy n="156" d="100"/>
        </p:scale>
        <p:origin x="147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7E834-C4A8-4B30-8234-E597CECA3FD7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4D784-8A11-4578-9B5B-21FFF947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6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4D784-8A11-4578-9B5B-21FFF94763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791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4D784-8A11-4578-9B5B-21FFF94763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733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4D784-8A11-4578-9B5B-21FFF947631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874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9AFF4-1FA5-4D56-9D9C-C8DDF3508A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1122362"/>
            <a:ext cx="6858000" cy="3144838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Title of the paper</a:t>
            </a:r>
            <a:br>
              <a:rPr lang="en-US" dirty="0"/>
            </a:br>
            <a:r>
              <a:rPr lang="en-US" dirty="0"/>
              <a:t>authors</a:t>
            </a:r>
            <a:br>
              <a:rPr lang="en-US" dirty="0"/>
            </a:br>
            <a:r>
              <a:rPr lang="en-US" dirty="0"/>
              <a:t>journal/conference, volume, issue, year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CB35512-EAE6-213E-2789-4B7268C78C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4514850"/>
            <a:ext cx="6858000" cy="1304924"/>
          </a:xfrm>
        </p:spPr>
        <p:txBody>
          <a:bodyPr/>
          <a:lstStyle>
            <a:lvl1pPr marL="0" indent="0" algn="ctr">
              <a:spcBef>
                <a:spcPts val="1200"/>
              </a:spcBef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spcBef>
                <a:spcPts val="1200"/>
              </a:spcBef>
            </a:pPr>
            <a:r>
              <a:rPr lang="en-US" sz="2800" dirty="0"/>
              <a:t>Presented by &lt;Your Name&gt;</a:t>
            </a:r>
          </a:p>
        </p:txBody>
      </p:sp>
    </p:spTree>
    <p:extLst>
      <p:ext uri="{BB962C8B-B14F-4D97-AF65-F5344CB8AC3E}">
        <p14:creationId xmlns:p14="http://schemas.microsoft.com/office/powerpoint/2010/main" val="270140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CBAF-FD17-4556-B563-9F17E08F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D2DE8-6B39-47B0-86A0-C2627A2D2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BD1E4-D14B-4138-B4AC-D78B5E24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41615-E7B9-4366-9538-68B6E950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424F4-12C2-47D2-8046-AD0B98AB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1C2CFD-B6F9-24A5-223A-A6BCCAD41401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80B06F1-BF5D-3669-653C-BBC2ED18825C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2/15/2026 2:16 PM</a:t>
            </a:fld>
            <a:endParaRPr lang="en-US" sz="12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FEFEB18-E03B-55E5-9BA2-C341E7CEFE06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DF5A49C-D9FD-6997-755D-B6F13BC5A0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02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E6B1-FD2B-4042-9497-7FCF9F46F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81D52-664D-4745-91E9-0C3592943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833E3-135F-4743-AD4B-CF0598EE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42391-1657-4A8E-8C53-A4EF72DAE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3E976-25AB-4AE2-A7BE-ED6D08F4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C7650B-AE0B-4FFC-F612-D9CDA07C998F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281A08A-38F5-6E09-3069-EDA313CB4238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2/15/2026 2:16 PM</a:t>
            </a:fld>
            <a:endParaRPr lang="en-US" sz="12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DBECCC4-D2F9-0475-0FB1-EF1A481C18F2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D1BC5C6-7516-C430-6BB8-57970560EF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60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387A-8E2E-4D68-89BC-6A761E1C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6087A-B910-4C97-BE78-C1EB7078A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B1C01-0EE1-4479-8FB2-195D9916C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14B5D-B614-4B9F-96DD-CBF2E4D5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2D19C-3FF2-4BD7-85E1-CB5A94C5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066D6-0215-4AEF-A628-4B89070BD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BE8935-2869-75C7-ACA8-936F88800781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7DA7235-104C-72E0-37C3-CA20C74031FC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2/15/2026 2:16 PM</a:t>
            </a:fld>
            <a:endParaRPr lang="en-US" sz="12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ED9B8F-B09F-6AE6-964C-24F19627C229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2BDA95C-C6CC-D81F-938B-98595F43DD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536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305D-4D2B-418A-9D97-04BD1499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19EE5-207F-4B02-9B2A-A2027E7B6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23649-4890-4861-8B7B-7800F312F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C31F67-B52B-4E00-889A-8FC942B290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0C1D4-A224-4CFD-9216-C4BD69948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512C2B-9259-4A2E-82EC-7B5976BE76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9F431-8EEA-407B-9149-A4A02E8E4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BC9DBB-54A4-4E92-9CB0-E19E2E440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8686A1-701F-0D34-7499-C848C2FC3846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71E40AE-9729-F84E-6750-A2D023BC4CA6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2/15/2026 2:16 PM</a:t>
            </a:fld>
            <a:endParaRPr lang="en-US" sz="12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C775302-0926-3059-C127-F0DE28BDF3E3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27CFE4A4-E14A-CE83-06BD-93F593631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90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090F-DCC0-44AA-A483-57DFCABA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DFBDF8-0F4F-45C4-9937-BD1F8732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AC3E7-3004-4863-89B6-1A44540F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835DA-C0DD-4150-B5A9-A9E6E9EFB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634B97-8568-ADA6-F0AA-DF458BCECA0A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6C3D3D0-2F6E-861F-5724-3535F515D781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2/15/2026 2:16 PM</a:t>
            </a:fld>
            <a:endParaRPr lang="en-US" sz="12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9327F07-E833-BBC3-3623-49EE1CC01B10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AC478856-A0DA-7546-1313-CFCBEEAEC3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04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5D3EF-9FB6-4132-85DC-EEAD2F5047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7BD5C-ED15-43EA-AD5F-833267720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3C7B5-4BFE-4FA6-9DCA-9A21C2CB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836CDF-8F1A-CD77-75C5-948FB842BE8C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247C745-E936-A259-6814-2BC4C9379209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2/15/2026 2:16 PM</a:t>
            </a:fld>
            <a:endParaRPr lang="en-US" sz="12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181689D-3C97-CA98-320F-7CAF8100EA8B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BD6CEBF-3B4E-7C6F-D83B-4336AB109B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307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917C7-A42B-45C4-87AE-64DC351D3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8F77E-68D1-4AD9-9368-40BF04A5F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F09A8-2453-438B-9ACE-5F216B0F0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87456-AB55-4BB3-A0DE-7A8B5F39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12BEF-F4C0-48EC-A69B-53052D353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4E064-1E51-4E86-8FDE-A378EA70D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87D300-A8BF-E8A7-4A10-094313524E25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C06C84D-9DC5-4938-9115-E9982A8BC1A7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2/15/2026 2:16 PM</a:t>
            </a:fld>
            <a:endParaRPr lang="en-US" sz="12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B1AE60C-6738-39B6-A7E8-2B325E806B16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C62CD6B-BA98-EA50-A63B-7ABF3ECB8D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609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24336-FB41-4746-ADEA-8ACD9012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81518-B6EC-4CBC-9763-F001313C03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8BFA5-92FA-4F6F-AB1B-1057FFF4F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E83E7-BA52-4C97-B38B-29640A16C3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55D73-0033-4FDE-837E-FC4B7B9E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577E7-AE7F-4FD1-96FA-C681905D9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9487EF-10E9-20DA-FF7C-3D005EF1E1D5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BC163A4-0F10-32B5-731B-B47A476BC910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2/15/2026 2:16 PM</a:t>
            </a:fld>
            <a:endParaRPr lang="en-US" sz="12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79B79AA-924B-EA99-5E26-02FEBB622598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A3873B3-BE6D-B997-BB6D-4BADB910C7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7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04F1-943F-4FEF-BBC8-D6C3B021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FECF8F-A044-4020-BC99-A494CA8EF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3B726-A353-4F79-88EF-F138D365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63AE0-03C3-412E-9855-22C6DA165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92924-7EEA-450D-9658-129C3E1CE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AC544B-A02A-D6C4-E0B0-DA7E9CAF20D9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8B2CA06-A154-7053-0952-AFCD73BB0D3B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2/15/2026 2:16 PM</a:t>
            </a:fld>
            <a:endParaRPr lang="en-US" sz="12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75F0140-A426-B598-128C-504028103D6D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967A920C-008D-72C0-9E06-BAB13F0D32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2401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99D0F5-3347-48F5-BA20-2268AEC1E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654AB-8CFA-4439-93CA-C714665FA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FBEDC-FCA9-4522-A177-4026B734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3111" y="6356349"/>
            <a:ext cx="1598563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47852-BC24-42B3-830C-FEDDDF4B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4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352F4-01F9-4B9E-8C2A-8741FDB1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5655" y="6356349"/>
            <a:ext cx="20574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21EA99-D7B0-AB26-8C59-F166B39C191B}"/>
              </a:ext>
            </a:extLst>
          </p:cNvPr>
          <p:cNvSpPr/>
          <p:nvPr userDrawn="1"/>
        </p:nvSpPr>
        <p:spPr>
          <a:xfrm>
            <a:off x="0" y="6264276"/>
            <a:ext cx="9144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D6B22BE-EE45-28DE-51D3-43BDDBE978D7}"/>
              </a:ext>
            </a:extLst>
          </p:cNvPr>
          <p:cNvSpPr txBox="1">
            <a:spLocks/>
          </p:cNvSpPr>
          <p:nvPr userDrawn="1"/>
        </p:nvSpPr>
        <p:spPr>
          <a:xfrm>
            <a:off x="1293111" y="6356349"/>
            <a:ext cx="159856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z="1200" smtClean="0"/>
              <a:pPr/>
              <a:t>2/15/2026 2:16 PM</a:t>
            </a:fld>
            <a:endParaRPr lang="en-US" sz="12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7206CF2-9296-D14D-AAD1-C481E8A6E37F}"/>
              </a:ext>
            </a:extLst>
          </p:cNvPr>
          <p:cNvSpPr txBox="1">
            <a:spLocks/>
          </p:cNvSpPr>
          <p:nvPr userDrawn="1"/>
        </p:nvSpPr>
        <p:spPr>
          <a:xfrm>
            <a:off x="6515655" y="6356349"/>
            <a:ext cx="20574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z="1200" smtClean="0"/>
              <a:pPr/>
              <a:t>‹#›</a:t>
            </a:fld>
            <a:endParaRPr lang="en-US" sz="120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38D72DC-57D0-AB51-3D33-065BAB779F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8065"/>
            <a:ext cx="1155836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995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C50B4-076C-40D8-915F-F6B64959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634" y="365127"/>
            <a:ext cx="8490857" cy="984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79975-F3B1-4D35-A1DA-4D3F4A826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634" y="1480457"/>
            <a:ext cx="8490857" cy="4696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71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BE4C7-97B0-429C-D962-ADA624021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85216"/>
            <a:ext cx="6858000" cy="3681984"/>
          </a:xfrm>
        </p:spPr>
        <p:txBody>
          <a:bodyPr>
            <a:normAutofit/>
          </a:bodyPr>
          <a:lstStyle/>
          <a:p>
            <a:r>
              <a:rPr lang="en-US" dirty="0"/>
              <a:t>When Deepfake Meets Backdoor: Leveraging GAN Fingerprints for Data Poisoning Attack</a:t>
            </a:r>
            <a:br>
              <a:rPr lang="en-US" b="0" dirty="0"/>
            </a:br>
            <a:r>
              <a:rPr lang="es-ES" sz="2000" dirty="0"/>
              <a:t>Zhao Y, Ma Y, Ge Y, Zhao L, Zhao L, Wang Q, </a:t>
            </a:r>
            <a:r>
              <a:rPr lang="en-US" sz="2000" dirty="0"/>
              <a:t> IEEE Transactions on Dependable and Secure Computing. 2025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D1737-AB5D-3A64-EC0A-632A41F735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r">
              <a:spcBef>
                <a:spcPts val="0"/>
              </a:spcBef>
            </a:pPr>
            <a:r>
              <a:rPr lang="en-US" sz="2000" dirty="0"/>
              <a:t>Presented by </a:t>
            </a:r>
            <a:br>
              <a:rPr lang="en-US" sz="2000" dirty="0"/>
            </a:br>
            <a:r>
              <a:rPr lang="en-US" sz="2000" dirty="0"/>
              <a:t>Sameera </a:t>
            </a:r>
            <a:r>
              <a:rPr lang="en-US" sz="2000" dirty="0" err="1"/>
              <a:t>Pisupati</a:t>
            </a:r>
            <a:endParaRPr lang="en-US" sz="2000" dirty="0"/>
          </a:p>
          <a:p>
            <a:pPr algn="r">
              <a:spcBef>
                <a:spcPts val="0"/>
              </a:spcBef>
            </a:pPr>
            <a:r>
              <a:rPr lang="en-US" sz="2000" dirty="0"/>
              <a:t>Feb. 16, 2026</a:t>
            </a:r>
          </a:p>
          <a:p>
            <a:pPr algn="r">
              <a:spcBef>
                <a:spcPts val="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13283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0204F2-8BC1-7938-94BA-E3599535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Contribution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DC5294-6F86-C892-853E-81671A81C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Backdoor attacks hide until a trigger appears → </a:t>
            </a:r>
            <a:r>
              <a:rPr lang="en-US" sz="2400" dirty="0">
                <a:solidFill>
                  <a:srgbClr val="FF0000"/>
                </a:solidFill>
              </a:rPr>
              <a:t>BA</a:t>
            </a:r>
            <a:r>
              <a:rPr lang="en-US" sz="2400" dirty="0"/>
              <a:t> remains high, </a:t>
            </a:r>
            <a:r>
              <a:rPr lang="en-US" sz="2400" dirty="0">
                <a:solidFill>
                  <a:srgbClr val="FF0000"/>
                </a:solidFill>
              </a:rPr>
              <a:t>ASR</a:t>
            </a:r>
            <a:r>
              <a:rPr lang="en-US" sz="2400" dirty="0"/>
              <a:t> high when triggered. </a:t>
            </a:r>
          </a:p>
          <a:p>
            <a:pPr lvl="1"/>
            <a:r>
              <a:rPr lang="en-US" sz="2000" dirty="0"/>
              <a:t>Most known triggers are exogenous patches → detectable/unnatural in real data. </a:t>
            </a:r>
          </a:p>
          <a:p>
            <a:pPr lvl="1"/>
            <a:r>
              <a:rPr lang="en-US" sz="2000" dirty="0"/>
              <a:t>Deepfakes naturally contain GAN fingerprints → endogenous trigger opportunity. </a:t>
            </a:r>
          </a:p>
          <a:p>
            <a:r>
              <a:rPr lang="en-US" sz="2400" dirty="0"/>
              <a:t>Weaponize GAN fingerprints (endogenous traces) as the backdoor trigger via data poisoning. </a:t>
            </a:r>
          </a:p>
          <a:p>
            <a:pPr lvl="1"/>
            <a:r>
              <a:rPr lang="en-US" sz="2000" b="1" dirty="0"/>
              <a:t>Define and evaluate 3 attack settings</a:t>
            </a:r>
            <a:r>
              <a:rPr lang="en-US" sz="2000" dirty="0"/>
              <a:t>: all-label, label-specific, and semantic-specific. </a:t>
            </a:r>
          </a:p>
          <a:p>
            <a:pPr lvl="1"/>
            <a:r>
              <a:rPr lang="en-US" sz="2000" b="1" dirty="0"/>
              <a:t>Semantic-specific attack</a:t>
            </a:r>
            <a:r>
              <a:rPr lang="en-US" sz="2000" dirty="0"/>
              <a:t>: trigger activates only when a semantic condition holds → most targeted/strongest.</a:t>
            </a:r>
          </a:p>
          <a:p>
            <a:pPr lvl="1"/>
            <a:r>
              <a:rPr lang="en-US" sz="2000" b="1" dirty="0"/>
              <a:t>Demonstrate practical impact</a:t>
            </a:r>
            <a:r>
              <a:rPr lang="en-US" sz="2000" dirty="0"/>
              <a:t>: challenges backdoor defenses/erasing, evades deepfake detectors, and works in federated learning.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02913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BAFE-28CF-F4F5-FFFD-1A950E5A0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4FDFE-6592-F184-9FB6-CAA6A867E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169" y="1533937"/>
            <a:ext cx="4930550" cy="2031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A70363-5AFD-C812-3F18-F8D6D1FEB65E}"/>
              </a:ext>
            </a:extLst>
          </p:cNvPr>
          <p:cNvSpPr txBox="1"/>
          <p:nvPr/>
        </p:nvSpPr>
        <p:spPr>
          <a:xfrm>
            <a:off x="339634" y="3907550"/>
            <a:ext cx="83563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Goal</a:t>
            </a:r>
            <a:r>
              <a:rPr lang="en-US" dirty="0"/>
              <a:t>: clean stays clean (high BA) + triggered flips to target (high ASR).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 GAN → synthesize fingerprinted samples → inject into victim training as poison.</a:t>
            </a:r>
            <a:endParaRPr lang="en-US" u="sng" dirty="0"/>
          </a:p>
          <a:p>
            <a:r>
              <a:rPr lang="en-US" u="sng" dirty="0"/>
              <a:t>Attack modes: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All-label</a:t>
            </a:r>
            <a:r>
              <a:rPr lang="en-US" dirty="0"/>
              <a:t> = many source labels → target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Label-specific</a:t>
            </a:r>
            <a:r>
              <a:rPr lang="en-US" dirty="0"/>
              <a:t> = one source label → target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Semantic-specific </a:t>
            </a:r>
            <a:r>
              <a:rPr lang="en-US" dirty="0"/>
              <a:t>= semantic subset → target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D6ECF5-2F53-76DE-AC52-60C7C2D3F326}"/>
              </a:ext>
            </a:extLst>
          </p:cNvPr>
          <p:cNvSpPr txBox="1"/>
          <p:nvPr/>
        </p:nvSpPr>
        <p:spPr>
          <a:xfrm>
            <a:off x="4262345" y="3551460"/>
            <a:ext cx="40130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Fig. 1: Poisoned samples generation of three attack patterns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DED1B44-ACD3-4B6F-87D3-BE4F84055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634" y="1256523"/>
            <a:ext cx="3502073" cy="29840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u="sng" dirty="0"/>
              <a:t>Threat Model</a:t>
            </a:r>
          </a:p>
          <a:p>
            <a:pPr>
              <a:spcBef>
                <a:spcPts val="600"/>
              </a:spcBef>
            </a:pPr>
            <a:r>
              <a:rPr lang="en-US" sz="1800" dirty="0"/>
              <a:t>Attacker doesn’t control victim training procedure/architecture → black-box victim. </a:t>
            </a:r>
          </a:p>
          <a:p>
            <a:pPr>
              <a:spcBef>
                <a:spcPts val="600"/>
              </a:spcBef>
            </a:pPr>
            <a:r>
              <a:rPr lang="en-US" sz="1800" dirty="0"/>
              <a:t>Attacker can influence training data → inject poisoned GAN samples. </a:t>
            </a:r>
          </a:p>
          <a:p>
            <a:pPr>
              <a:spcBef>
                <a:spcPts val="600"/>
              </a:spcBef>
            </a:pPr>
            <a:r>
              <a:rPr lang="en-US" sz="1800" dirty="0"/>
              <a:t>Poison budget is small → low % poisoning. </a:t>
            </a:r>
          </a:p>
        </p:txBody>
      </p:sp>
    </p:spTree>
    <p:extLst>
      <p:ext uri="{BB962C8B-B14F-4D97-AF65-F5344CB8AC3E}">
        <p14:creationId xmlns:p14="http://schemas.microsoft.com/office/powerpoint/2010/main" val="1188092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A209A-2D6B-E282-F1E5-74DEFED3D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766" y="266471"/>
            <a:ext cx="8490857" cy="825212"/>
          </a:xfrm>
        </p:spPr>
        <p:txBody>
          <a:bodyPr/>
          <a:lstStyle/>
          <a:p>
            <a:r>
              <a:rPr lang="en-US" dirty="0"/>
              <a:t>Semantic-specific attack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D92EF2-A719-7A7A-5BDC-E196D4487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5" y="1312542"/>
            <a:ext cx="8202170" cy="2602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003ACD-4021-9202-AC54-638A0104A7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492" y="4039194"/>
            <a:ext cx="8354591" cy="16290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E47ACE-9569-12BF-3080-38EEE43CC2B9}"/>
              </a:ext>
            </a:extLst>
          </p:cNvPr>
          <p:cNvSpPr txBox="1"/>
          <p:nvPr/>
        </p:nvSpPr>
        <p:spPr>
          <a:xfrm>
            <a:off x="2022921" y="3453434"/>
            <a:ext cx="5412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Fig. 2: The pipeline of semantic-specific attack using GAN fingerprints</a:t>
            </a:r>
            <a:r>
              <a:rPr lang="en-US" sz="12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72AF88-E06F-9C68-841D-AD6B5FAE93DC}"/>
              </a:ext>
            </a:extLst>
          </p:cNvPr>
          <p:cNvSpPr txBox="1"/>
          <p:nvPr/>
        </p:nvSpPr>
        <p:spPr>
          <a:xfrm>
            <a:off x="2136709" y="5577220"/>
            <a:ext cx="4516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Fig. 3: Semantic-preserving poisoned samples generation</a:t>
            </a:r>
          </a:p>
        </p:txBody>
      </p:sp>
    </p:spTree>
    <p:extLst>
      <p:ext uri="{BB962C8B-B14F-4D97-AF65-F5344CB8AC3E}">
        <p14:creationId xmlns:p14="http://schemas.microsoft.com/office/powerpoint/2010/main" val="4059231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4B6E3-7B5B-29E6-94B4-CE852B45D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9C954-5EEA-D4A4-FD94-D045E4B88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setup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ABC9F-EFB5-AF87-7074-18B132F86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9634" y="1614940"/>
            <a:ext cx="4053218" cy="4351338"/>
          </a:xfrm>
        </p:spPr>
        <p:txBody>
          <a:bodyPr>
            <a:normAutofit/>
          </a:bodyPr>
          <a:lstStyle/>
          <a:p>
            <a:r>
              <a:rPr lang="en-US" sz="2400" b="1" dirty="0"/>
              <a:t>Datasets</a:t>
            </a:r>
            <a:r>
              <a:rPr lang="en-US" sz="2400" dirty="0"/>
              <a:t>: CIFAR-10 / GTSRB / LSUN </a:t>
            </a:r>
          </a:p>
          <a:p>
            <a:r>
              <a:rPr lang="en-US" sz="2400" b="1" dirty="0"/>
              <a:t>GAN backbones</a:t>
            </a:r>
            <a:r>
              <a:rPr lang="en-US" sz="2400" dirty="0"/>
              <a:t>: StyleGAN2 / </a:t>
            </a:r>
            <a:r>
              <a:rPr lang="en-US" sz="2400" dirty="0" err="1"/>
              <a:t>BigGAN</a:t>
            </a:r>
            <a:r>
              <a:rPr lang="en-US" sz="2400" dirty="0"/>
              <a:t> / R3GAN / DDGAN </a:t>
            </a:r>
          </a:p>
          <a:p>
            <a:r>
              <a:rPr lang="en-US" sz="2400" b="1" dirty="0"/>
              <a:t>Metrics</a:t>
            </a:r>
            <a:r>
              <a:rPr lang="en-US" sz="2400" dirty="0"/>
              <a:t>: BA (Benign accuracy), ASR (Attack Success Rate)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0EEB69-3CEC-7A59-032C-5EFCD3E64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12199"/>
            <a:ext cx="4036424" cy="32538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3A3E2F-316F-251B-B082-E47EB05E0B15}"/>
              </a:ext>
            </a:extLst>
          </p:cNvPr>
          <p:cNvSpPr txBox="1"/>
          <p:nvPr/>
        </p:nvSpPr>
        <p:spPr>
          <a:xfrm>
            <a:off x="4392852" y="4966061"/>
            <a:ext cx="45290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TABLE 1: Details of semantic-features on different data sets</a:t>
            </a:r>
          </a:p>
        </p:txBody>
      </p:sp>
    </p:spTree>
    <p:extLst>
      <p:ext uri="{BB962C8B-B14F-4D97-AF65-F5344CB8AC3E}">
        <p14:creationId xmlns:p14="http://schemas.microsoft.com/office/powerpoint/2010/main" val="1228935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37FA4-EDF8-61D1-A3E3-47AEBCA57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Main results (semantic-specific wins)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FCB14FA-196C-8F15-FEBB-5BA157CBC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0000"/>
                    </a14:imgEffect>
                    <a14:imgEffect>
                      <a14:brightnessContrast bright="4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6955" y="1297956"/>
            <a:ext cx="7570090" cy="2228849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F4AF6B-BC5D-0329-E315-5B3965030347}"/>
              </a:ext>
            </a:extLst>
          </p:cNvPr>
          <p:cNvSpPr txBox="1"/>
          <p:nvPr/>
        </p:nvSpPr>
        <p:spPr>
          <a:xfrm>
            <a:off x="507585" y="4030050"/>
            <a:ext cx="832290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Clean Model</a:t>
            </a:r>
            <a:r>
              <a:rPr lang="en-US" sz="1600" dirty="0"/>
              <a:t>: stays high (~84–96%) → backdoor is stealthy.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Semantic-only</a:t>
            </a:r>
            <a:r>
              <a:rPr lang="en-US" sz="1600" dirty="0"/>
              <a:t>: gives weak ASR → semantics alone isn’t enough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GAN fingerprints + semantics</a:t>
            </a:r>
            <a:r>
              <a:rPr lang="en-US" sz="1600" dirty="0"/>
              <a:t> give </a:t>
            </a:r>
            <a:r>
              <a:rPr lang="en-US" sz="1600" b="1" dirty="0"/>
              <a:t>very high ASR (often ~90–100%)</a:t>
            </a:r>
            <a:r>
              <a:rPr lang="en-US" sz="1600" dirty="0"/>
              <a:t> → fingerprints act as the real trigger.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2085EB-799A-2FA2-CDD1-50F8DCE21427}"/>
              </a:ext>
            </a:extLst>
          </p:cNvPr>
          <p:cNvSpPr txBox="1"/>
          <p:nvPr/>
        </p:nvSpPr>
        <p:spPr>
          <a:xfrm>
            <a:off x="2429439" y="3526805"/>
            <a:ext cx="4311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Table: Attack performance of semantic-specific attacks.</a:t>
            </a:r>
          </a:p>
        </p:txBody>
      </p:sp>
    </p:spTree>
    <p:extLst>
      <p:ext uri="{BB962C8B-B14F-4D97-AF65-F5344CB8AC3E}">
        <p14:creationId xmlns:p14="http://schemas.microsoft.com/office/powerpoint/2010/main" val="3950473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A6539-ACB8-0B9E-2678-D24A7B27B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784" y="102638"/>
            <a:ext cx="8490857" cy="741560"/>
          </a:xfrm>
        </p:spPr>
        <p:txBody>
          <a:bodyPr>
            <a:normAutofit/>
          </a:bodyPr>
          <a:lstStyle/>
          <a:p>
            <a:r>
              <a:rPr lang="en-US" sz="4000" dirty="0"/>
              <a:t>Evidence of Learnable Fingerprints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7E8442-C88D-D20D-C82A-79870BAAE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98" y="844198"/>
            <a:ext cx="7072603" cy="38421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412894A-4890-E811-2CC1-D2C45846027A}"/>
              </a:ext>
            </a:extLst>
          </p:cNvPr>
          <p:cNvSpPr txBox="1"/>
          <p:nvPr/>
        </p:nvSpPr>
        <p:spPr>
          <a:xfrm>
            <a:off x="2768626" y="4686300"/>
            <a:ext cx="4693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Fig. 4: Frequency analysis on poisoned images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8EC1F-1ED0-32AD-B453-5C3B02E3E26B}"/>
              </a:ext>
            </a:extLst>
          </p:cNvPr>
          <p:cNvSpPr txBox="1"/>
          <p:nvPr/>
        </p:nvSpPr>
        <p:spPr>
          <a:xfrm>
            <a:off x="891540" y="5153540"/>
            <a:ext cx="7216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GAN fingerprints leave consistent, model-specific frequency traces --learnable as a hidden trigger.</a:t>
            </a:r>
          </a:p>
        </p:txBody>
      </p:sp>
    </p:spTree>
    <p:extLst>
      <p:ext uri="{BB962C8B-B14F-4D97-AF65-F5344CB8AC3E}">
        <p14:creationId xmlns:p14="http://schemas.microsoft.com/office/powerpoint/2010/main" val="3220807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7EC8E-035C-93E7-307C-E27DD2A81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200" dirty="0"/>
              <a:t>Backdoor Defense: Erasing / Unlearning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B4C48B-2FAC-1C02-9186-C698157855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0366" y="1867764"/>
            <a:ext cx="6036790" cy="2284012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739D70-C9D5-7201-4284-4038641C6288}"/>
              </a:ext>
            </a:extLst>
          </p:cNvPr>
          <p:cNvSpPr txBox="1"/>
          <p:nvPr/>
        </p:nvSpPr>
        <p:spPr>
          <a:xfrm>
            <a:off x="1110342" y="4260099"/>
            <a:ext cx="7091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TABLE: Performance of semantic-specific attack with GAN fingerprints against 3 backdoor erasing techniques.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7DB539-5A59-6D93-BF55-70D47521EFC1}"/>
              </a:ext>
            </a:extLst>
          </p:cNvPr>
          <p:cNvSpPr txBox="1"/>
          <p:nvPr/>
        </p:nvSpPr>
        <p:spPr>
          <a:xfrm>
            <a:off x="1296954" y="4753745"/>
            <a:ext cx="67180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DHBE</a:t>
            </a:r>
            <a:r>
              <a:rPr lang="en-US" dirty="0"/>
              <a:t>: ASR ↓ but BA crashes (utility loss).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BCU: </a:t>
            </a:r>
            <a:r>
              <a:rPr lang="en-US" dirty="0"/>
              <a:t>BA ok, ASR often still high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RNP</a:t>
            </a:r>
            <a:r>
              <a:rPr lang="en-US" dirty="0"/>
              <a:t>: ASR sometimes low, sometimes remains → not guaranteed.</a:t>
            </a:r>
          </a:p>
        </p:txBody>
      </p:sp>
    </p:spTree>
    <p:extLst>
      <p:ext uri="{BB962C8B-B14F-4D97-AF65-F5344CB8AC3E}">
        <p14:creationId xmlns:p14="http://schemas.microsoft.com/office/powerpoint/2010/main" val="3736882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81469-BD11-0E35-FAAC-4A4642475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41AF4-5557-43B5-D55B-AA529A9C0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223" y="254550"/>
            <a:ext cx="8490857" cy="984703"/>
          </a:xfrm>
        </p:spPr>
        <p:txBody>
          <a:bodyPr>
            <a:noAutofit/>
          </a:bodyPr>
          <a:lstStyle/>
          <a:p>
            <a:r>
              <a:rPr lang="en-US" sz="4000" dirty="0"/>
              <a:t>Deepfake Detector Evasion &amp; Federated Learning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463F0D-0E97-46EB-EAD2-83BE0CA4B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246" y="3941674"/>
            <a:ext cx="4845781" cy="18310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6A02B0-26F6-F525-B70F-85D093E41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8246" y="1588150"/>
            <a:ext cx="4845781" cy="17146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7568DB-F18A-38FC-1F9E-D0C4C15B22EB}"/>
              </a:ext>
            </a:extLst>
          </p:cNvPr>
          <p:cNvSpPr txBox="1"/>
          <p:nvPr/>
        </p:nvSpPr>
        <p:spPr>
          <a:xfrm>
            <a:off x="997442" y="3302806"/>
            <a:ext cx="7296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TABLE: Performance of semantic-specific attack with GAN fingerprints in federated learning scenario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3E01CD-F40D-6245-76E8-D945AD60BE98}"/>
              </a:ext>
            </a:extLst>
          </p:cNvPr>
          <p:cNvSpPr txBox="1"/>
          <p:nvPr/>
        </p:nvSpPr>
        <p:spPr>
          <a:xfrm>
            <a:off x="997442" y="5772714"/>
            <a:ext cx="71752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TABLE: Performance of semantic-specific attack with GAN fingerprints against deepfake detection techniques.</a:t>
            </a:r>
          </a:p>
        </p:txBody>
      </p:sp>
    </p:spTree>
    <p:extLst>
      <p:ext uri="{BB962C8B-B14F-4D97-AF65-F5344CB8AC3E}">
        <p14:creationId xmlns:p14="http://schemas.microsoft.com/office/powerpoint/2010/main" val="4290945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EB5BC-96BE-0584-81A7-47B2C254C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54C6B-20C9-E0D7-C2BF-D115878B9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GAN fingerprints act as endogenous triggers → stealthy backdoor poisoning without visible patches. </a:t>
            </a:r>
          </a:p>
          <a:p>
            <a:r>
              <a:rPr lang="en-US" sz="2000" dirty="0"/>
              <a:t>Semantic-specific attack is the key result: semantic gate + fingerprint key → high ASR. </a:t>
            </a:r>
          </a:p>
          <a:p>
            <a:r>
              <a:rPr lang="en-US" sz="2000" b="1" dirty="0"/>
              <a:t>Main evidence</a:t>
            </a:r>
            <a:r>
              <a:rPr lang="en-US" sz="2000" dirty="0"/>
              <a:t>: semantic-only weak, fingerprinted samples strong; fingerprints show distinct traces.</a:t>
            </a:r>
          </a:p>
          <a:p>
            <a:r>
              <a:rPr lang="en-US" sz="2000" b="1" dirty="0"/>
              <a:t>Practical implication</a:t>
            </a:r>
            <a:r>
              <a:rPr lang="en-US" sz="2000" dirty="0"/>
              <a:t>: hard to fully remove; deepfake detectors don’t reliably help; works even in FL.</a:t>
            </a:r>
          </a:p>
          <a:p>
            <a:r>
              <a:rPr lang="en-US" sz="2000" b="1" dirty="0"/>
              <a:t>Takeaway: </a:t>
            </a:r>
            <a:r>
              <a:rPr lang="en-US" sz="2000" dirty="0"/>
              <a:t>deepfake artifacts are not only a forensics → new security risk in the training-data supply chain.</a:t>
            </a:r>
          </a:p>
        </p:txBody>
      </p:sp>
    </p:spTree>
    <p:extLst>
      <p:ext uri="{BB962C8B-B14F-4D97-AF65-F5344CB8AC3E}">
        <p14:creationId xmlns:p14="http://schemas.microsoft.com/office/powerpoint/2010/main" val="2335213637"/>
      </p:ext>
    </p:extLst>
  </p:cSld>
  <p:clrMapOvr>
    <a:masterClrMapping/>
  </p:clrMapOvr>
</p:sld>
</file>

<file path=ppt/theme/theme1.xml><?xml version="1.0" encoding="utf-8"?>
<a:theme xmlns:a="http://schemas.openxmlformats.org/drawingml/2006/main" name="covi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vis" id="{E97EAE5A-6ED3-40F8-8572-7C2171E4477C}" vid="{BC0DEF65-8CF8-4D97-943E-B1B9C0AA3E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covis</Template>
  <TotalTime>20650</TotalTime>
  <Words>586</Words>
  <Application>Microsoft Office PowerPoint</Application>
  <PresentationFormat>On-screen Show (4:3)</PresentationFormat>
  <Paragraphs>57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covis</vt:lpstr>
      <vt:lpstr>When Deepfake Meets Backdoor: Leveraging GAN Fingerprints for Data Poisoning Attack Zhao Y, Ma Y, Ge Y, Zhao L, Zhao L, Wang Q,  IEEE Transactions on Dependable and Secure Computing. 2025</vt:lpstr>
      <vt:lpstr>Motivation &amp; Contribution</vt:lpstr>
      <vt:lpstr>Method overview</vt:lpstr>
      <vt:lpstr>Semantic-specific attack</vt:lpstr>
      <vt:lpstr>Experimental setup</vt:lpstr>
      <vt:lpstr>Main results (semantic-specific wins)</vt:lpstr>
      <vt:lpstr>Evidence of Learnable Fingerprints </vt:lpstr>
      <vt:lpstr>Backdoor Defense: Erasing / Unlearning</vt:lpstr>
      <vt:lpstr>Deepfake Detector Evasion &amp; Federated Learning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Registration of Point Sets with Large and Uneven Non-Rigid Deformation</dc:title>
  <dc:creator>Maharjan, Amar</dc:creator>
  <cp:lastModifiedBy>Yuan, Xiaohui</cp:lastModifiedBy>
  <cp:revision>79</cp:revision>
  <dcterms:created xsi:type="dcterms:W3CDTF">2022-07-19T22:32:27Z</dcterms:created>
  <dcterms:modified xsi:type="dcterms:W3CDTF">2026-02-15T20:29:43Z</dcterms:modified>
</cp:coreProperties>
</file>