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79" r:id="rId2"/>
    <p:sldId id="377" r:id="rId3"/>
    <p:sldId id="380" r:id="rId4"/>
    <p:sldId id="381" r:id="rId5"/>
    <p:sldId id="382" r:id="rId6"/>
    <p:sldId id="386" r:id="rId7"/>
    <p:sldId id="383" r:id="rId8"/>
    <p:sldId id="387" r:id="rId9"/>
    <p:sldId id="388" r:id="rId10"/>
    <p:sldId id="385" r:id="rId11"/>
    <p:sldId id="389" r:id="rId12"/>
    <p:sldId id="391" r:id="rId13"/>
    <p:sldId id="39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5729"/>
    <a:srgbClr val="145A14"/>
    <a:srgbClr val="236423"/>
    <a:srgbClr val="29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94" autoAdjust="0"/>
    <p:restoredTop sz="92978" autoAdjust="0"/>
  </p:normalViewPr>
  <p:slideViewPr>
    <p:cSldViewPr snapToGrid="0">
      <p:cViewPr varScale="1">
        <p:scale>
          <a:sx n="157" d="100"/>
          <a:sy n="157" d="100"/>
        </p:scale>
        <p:origin x="6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7E834-C4A8-4B30-8234-E597CECA3FD7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4D784-8A11-4578-9B5B-21FFF9476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6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54D784-8A11-4578-9B5B-21FFF94763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10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FF4-1FA5-4D56-9D9C-C8DDF3508A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2"/>
            <a:ext cx="9144000" cy="3144838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of the paper</a:t>
            </a:r>
            <a:br>
              <a:rPr lang="en-US" dirty="0"/>
            </a:br>
            <a:r>
              <a:rPr lang="en-US" dirty="0"/>
              <a:t>authors</a:t>
            </a:r>
            <a:br>
              <a:rPr lang="en-US" dirty="0"/>
            </a:br>
            <a:r>
              <a:rPr lang="en-US" dirty="0"/>
              <a:t>journal/conference, volume, issue, year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CB35512-EAE6-213E-2789-4B7268C78C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4514850"/>
            <a:ext cx="9144000" cy="130492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ctr">
              <a:spcBef>
                <a:spcPts val="1200"/>
              </a:spcBef>
            </a:pPr>
            <a:r>
              <a:rPr lang="en-US" sz="2800" dirty="0"/>
              <a:t>Presented by &lt;Your Name&gt;</a:t>
            </a:r>
          </a:p>
        </p:txBody>
      </p:sp>
    </p:spTree>
    <p:extLst>
      <p:ext uri="{BB962C8B-B14F-4D97-AF65-F5344CB8AC3E}">
        <p14:creationId xmlns:p14="http://schemas.microsoft.com/office/powerpoint/2010/main" val="270140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CBAF-FD17-4556-B563-9F17E08F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2DE8-6B39-47B0-86A0-C2627A2D2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D1E4-D14B-4138-B4AC-D78B5E24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41615-E7B9-4366-9538-68B6E950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424F4-12C2-47D2-8046-AD0B98AB4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1C2CFD-B6F9-24A5-223A-A6BCCAD4140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B06F1-BF5D-3669-653C-BBC2ED18825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EFEB18-E03B-55E5-9BA2-C341E7CEFE0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5DF5A49C-D9FD-6997-755D-B6F13BC5A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029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E6B1-FD2B-4042-9497-7FCF9F46F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1D52-664D-4745-91E9-0C3592943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833E3-135F-4743-AD4B-CF0598EEAD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391-1657-4A8E-8C53-A4EF72DA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3E976-25AB-4AE2-A7BE-ED6D08F4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7650B-AE0B-4FFC-F612-D9CDA07C998F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81A08A-38F5-6E09-3069-EDA313CB4238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DBECCC4-D2F9-0475-0FB1-EF1A481C18F2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D1BC5C6-7516-C430-6BB8-57970560E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6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387A-8E2E-4D68-89BC-6A761E1C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6087A-B910-4C97-BE78-C1EB7078A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B1C01-0EE1-4479-8FB2-195D9916C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14B5D-B614-4B9F-96DD-CBF2E4D5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2D19C-3FF2-4BD7-85E1-CB5A94C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066D6-0215-4AEF-A628-4B89070BD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BE8935-2869-75C7-ACA8-936F88800781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7DA7235-104C-72E0-37C3-CA20C74031FC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EED9B8F-B09F-6AE6-964C-24F19627C229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2BDA95C-C6CC-D81F-938B-98595F43DD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53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305D-4D2B-418A-9D97-04BD1499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9EE5-207F-4B02-9B2A-A2027E7B6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23649-4890-4861-8B7B-7800F312F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C31F67-B52B-4E00-889A-8FC942B290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0C1D4-A224-4CFD-9216-C4BD69948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12C2B-9259-4A2E-82EC-7B5976BE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C9F431-8EEA-407B-9149-A4A02E8E4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C9DBB-54A4-4E92-9CB0-E19E2E44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8686A1-701F-0D34-7499-C848C2FC3846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71E40AE-9729-F84E-6750-A2D023BC4CA6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775302-0926-3059-C127-F0DE28BDF3E3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27CFE4A4-E14A-CE83-06BD-93F593631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9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090F-DCC0-44AA-A483-57DFCABA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DFBDF8-0F4F-45C4-9937-BD1F8732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AC3E7-3004-4863-89B6-1A44540FB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835DA-C0DD-4150-B5A9-A9E6E9EFB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34B97-8568-ADA6-F0AA-DF458BCECA0A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6C3D3D0-2F6E-861F-5724-3535F515D781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9327F07-E833-BBC3-3623-49EE1CC01B10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C478856-A0DA-7546-1313-CFCBEEAEC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04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5D3EF-9FB6-4132-85DC-EEAD2F5047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B7BD5C-ED15-43EA-AD5F-833267720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C7B5-4BFE-4FA6-9DCA-9A21C2CB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836CDF-8F1A-CD77-75C5-948FB842BE8C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47C745-E936-A259-6814-2BC4C9379209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81689D-3C97-CA98-320F-7CAF8100EA8B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BD6CEBF-3B4E-7C6F-D83B-4336AB109B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30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17C7-A42B-45C4-87AE-64DC351D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8F77E-68D1-4AD9-9368-40BF04A5F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F09A8-2453-438B-9ACE-5F216B0F0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7456-AB55-4BB3-A0DE-7A8B5F393F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2BEF-F4C0-48EC-A69B-53052D35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4E064-1E51-4E86-8FDE-A378EA70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87D300-A8BF-E8A7-4A10-094313524E2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C06C84D-9DC5-4938-9115-E9982A8BC1A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B1AE60C-6738-39B6-A7E8-2B325E806B16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C62CD6B-BA98-EA50-A63B-7ABF3ECB8D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609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4336-FB41-4746-ADEA-8ACD9012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581518-B6EC-4CBC-9763-F001313C0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8BFA5-92FA-4F6F-AB1B-1057FFF4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E83E7-BA52-4C97-B38B-29640A16C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55D73-0033-4FDE-837E-FC4B7B9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577E7-AE7F-4FD1-96FA-C681905D9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9487EF-10E9-20DA-FF7C-3D005EF1E1D5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163A4-0F10-32B5-731B-B47A476BC910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79B79AA-924B-EA99-5E26-02FEBB622598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A3873B3-BE6D-B997-BB6D-4BADB910C7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7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04F1-943F-4FEF-BBC8-D6C3B021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ECF8F-A044-4020-BC99-A494CA8EF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3B726-A353-4F79-88EF-F138D365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63AE0-03C3-412E-9855-22C6DA165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92924-7EEA-450D-9658-129C3E1C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C544B-A02A-D6C4-E0B0-DA7E9CAF20D9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B2CA06-A154-7053-0952-AFCD73BB0D3B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75F0140-A426-B598-128C-504028103D6D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967A920C-008D-72C0-9E06-BAB13F0D32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2401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99D0F5-3347-48F5-BA20-2268AEC1E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54AB-8CFA-4439-93CA-C714665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FBEDC-FCA9-4522-A177-4026B734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24148" y="6356348"/>
            <a:ext cx="213141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7852-BC24-42B3-830C-FEDDDF4B0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8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352F4-01F9-4B9E-8C2A-8741FDB1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7540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40BF4039-73DF-44D7-BD43-5B0CCF185C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1EA99-D7B0-AB26-8C59-F166B39C191B}"/>
              </a:ext>
            </a:extLst>
          </p:cNvPr>
          <p:cNvSpPr/>
          <p:nvPr userDrawn="1"/>
        </p:nvSpPr>
        <p:spPr>
          <a:xfrm>
            <a:off x="0" y="6264275"/>
            <a:ext cx="12192000" cy="593725"/>
          </a:xfrm>
          <a:prstGeom prst="rect">
            <a:avLst/>
          </a:prstGeom>
          <a:solidFill>
            <a:srgbClr val="145A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D6B22BE-EE45-28DE-51D3-43BDDBE978D7}"/>
              </a:ext>
            </a:extLst>
          </p:cNvPr>
          <p:cNvSpPr txBox="1">
            <a:spLocks/>
          </p:cNvSpPr>
          <p:nvPr userDrawn="1"/>
        </p:nvSpPr>
        <p:spPr>
          <a:xfrm>
            <a:off x="1724148" y="6356348"/>
            <a:ext cx="2131417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F9C4DC-0BB3-4682-B72A-A3014A602F4E}" type="datetime8">
              <a:rPr lang="en-US" smtClean="0"/>
              <a:pPr/>
              <a:t>2/8/2026 8:02 PM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7206CF2-9296-D14D-AAD1-C481E8A6E37F}"/>
              </a:ext>
            </a:extLst>
          </p:cNvPr>
          <p:cNvSpPr txBox="1">
            <a:spLocks/>
          </p:cNvSpPr>
          <p:nvPr userDrawn="1"/>
        </p:nvSpPr>
        <p:spPr>
          <a:xfrm>
            <a:off x="8687540" y="6356348"/>
            <a:ext cx="2743200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0BF4039-73DF-44D7-BD43-5B0CCF185C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38D72DC-57D0-AB51-3D33-065BAB779F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318065"/>
            <a:ext cx="1541115" cy="44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995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50B4-076C-40D8-915F-F6B64959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45" y="365126"/>
            <a:ext cx="11321143" cy="984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9975-F3B1-4D35-A1DA-4D3F4A826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845" y="1480457"/>
            <a:ext cx="11321143" cy="4696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71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E4C7-97B0-429C-D962-ADA624021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7664"/>
            <a:ext cx="9144000" cy="2186473"/>
          </a:xfrm>
        </p:spPr>
        <p:txBody>
          <a:bodyPr/>
          <a:lstStyle/>
          <a:p>
            <a:r>
              <a:rPr lang="en-US" dirty="0"/>
              <a:t>From Static to Adaptive Prompts: Motion-Conditioned Semantic Guidance for 3D Pose Estimation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D1737-AB5D-3A64-EC0A-632A41F735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3861706"/>
            <a:ext cx="9144000" cy="1755321"/>
          </a:xfrm>
        </p:spPr>
        <p:txBody>
          <a:bodyPr>
            <a:normAutofit fontScale="47500" lnSpcReduction="20000"/>
          </a:bodyPr>
          <a:lstStyle/>
          <a:p>
            <a:pPr>
              <a:spcAft>
                <a:spcPts val="1200"/>
              </a:spcAft>
            </a:pPr>
            <a:r>
              <a:rPr lang="en-US" sz="4500" dirty="0"/>
              <a:t>Yen Pham</a:t>
            </a:r>
          </a:p>
          <a:p>
            <a:r>
              <a:rPr lang="en-US" sz="3300" dirty="0"/>
              <a:t>Computer Vision and Intelligent Systems (CoVIS) Lab</a:t>
            </a:r>
          </a:p>
          <a:p>
            <a:r>
              <a:rPr lang="en-US" sz="3300" dirty="0"/>
              <a:t>Department of Computer Science and Engineering</a:t>
            </a:r>
          </a:p>
          <a:p>
            <a:r>
              <a:rPr lang="en-US" sz="3300" dirty="0"/>
              <a:t>University of North Texas</a:t>
            </a:r>
          </a:p>
          <a:p>
            <a:r>
              <a:rPr lang="en-US" sz="3300" dirty="0"/>
              <a:t>Feb 9,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8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204F2-8BC1-7938-94BA-E35995355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Monocular 3D Human Pose Estimation 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DC5294-6F86-C892-853E-81671A81C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Input: 2D pose 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dirty="0"/>
              </a:p>
              <a:p>
                <a:pPr marL="457200" lvl="1" indent="0">
                  <a:buNone/>
                </a:pPr>
                <a:r>
                  <a:rPr lang="en-US" dirty="0"/>
                  <a:t>Output: 3D pose 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ar-AE" dirty="0"/>
              </a:p>
              <a:p>
                <a:r>
                  <a:rPr lang="en-US" b="1" dirty="0"/>
                  <a:t>Real-world challenges</a:t>
                </a:r>
                <a:endParaRPr lang="en-US" dirty="0"/>
              </a:p>
              <a:p>
                <a:pPr lvl="1"/>
                <a:r>
                  <a:rPr lang="en-US" dirty="0"/>
                  <a:t>Fast, irregular motion</a:t>
                </a:r>
              </a:p>
              <a:p>
                <a:pPr lvl="1"/>
                <a:r>
                  <a:rPr lang="en-US" dirty="0"/>
                  <a:t>2D detector noises</a:t>
                </a:r>
              </a:p>
              <a:p>
                <a:pPr lvl="1"/>
                <a:r>
                  <a:rPr lang="en-US" dirty="0"/>
                  <a:t>Occlusions</a:t>
                </a:r>
              </a:p>
              <a:p>
                <a:pPr lvl="1"/>
                <a:r>
                  <a:rPr lang="en-US" dirty="0"/>
                  <a:t>Domain shift (lab → in-the-wild → sports)</a:t>
                </a:r>
              </a:p>
              <a:p>
                <a:r>
                  <a:rPr lang="en-US" b="1" dirty="0"/>
                  <a:t>Key tension</a:t>
                </a:r>
                <a:endParaRPr lang="en-US" dirty="0"/>
              </a:p>
              <a:p>
                <a:pPr lvl="1"/>
                <a:r>
                  <a:rPr lang="en-US" dirty="0"/>
                  <a:t>Models trained on lab-controlled motions face motion distributions, with noises, they never saw.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4DC5294-6F86-C892-853E-81671A81C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9" t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291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10A47-6E05-7249-50A1-594F2A35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Our Ideas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D8C33-D3D1-17E0-E110-7D5229EB91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Static Prompts</a:t>
                </a:r>
              </a:p>
              <a:p>
                <a:pPr lvl="1"/>
                <a:r>
                  <a:rPr lang="en-US" dirty="0"/>
                  <a:t>Learned fixed text embeddings.</a:t>
                </a:r>
              </a:p>
              <a:p>
                <a:pPr lvl="2"/>
                <a:r>
                  <a:rPr lang="en-US" dirty="0"/>
                  <a:t>Static Prompt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3D Poses</a:t>
                </a:r>
              </a:p>
              <a:p>
                <a:pPr lvl="1"/>
                <a:r>
                  <a:rPr lang="en-US" dirty="0"/>
                  <a:t>Independent of pose uncertainty, motion speed, articulation pattern, s</a:t>
                </a:r>
                <a:r>
                  <a:rPr lang="en-US" altLang="en-US" dirty="0"/>
                  <a:t>keleton topology, and temporal scales</a:t>
                </a:r>
              </a:p>
              <a:p>
                <a:pPr lvl="1"/>
                <a:r>
                  <a:rPr lang="en-US" altLang="en-US" dirty="0"/>
                  <a:t>Some methods conditioned the prompt with action labels</a:t>
                </a:r>
              </a:p>
              <a:p>
                <a:pPr lvl="2"/>
                <a:r>
                  <a:rPr lang="en-US" altLang="en-US" dirty="0"/>
                  <a:t>Require extra upstream stages to obtain action labels </a:t>
                </a:r>
              </a:p>
              <a:p>
                <a:pPr lvl="2"/>
                <a:r>
                  <a:rPr lang="en-US" dirty="0"/>
                  <a:t>Action label sets differ across datasets</a:t>
                </a:r>
              </a:p>
              <a:p>
                <a:pPr lvl="2"/>
                <a:r>
                  <a:rPr lang="en-US" altLang="en-US" dirty="0"/>
                  <a:t>Action prompts encode semantics (action intent), not physics (kinematics)</a:t>
                </a:r>
              </a:p>
              <a:p>
                <a:r>
                  <a:rPr lang="en-US" dirty="0"/>
                  <a:t>Dynamic prompt (our ideas) learned from different pose and motion contexts</a:t>
                </a:r>
              </a:p>
              <a:p>
                <a:pPr lvl="1"/>
                <a:r>
                  <a:rPr lang="en-US" dirty="0"/>
                  <a:t>2D Poses → Motion−conditioned Prompt → 3D Poses</a:t>
                </a:r>
              </a:p>
              <a:p>
                <a:pPr lvl="1"/>
                <a:r>
                  <a:rPr lang="en-US" dirty="0"/>
                  <a:t>Solution</a:t>
                </a:r>
              </a:p>
              <a:p>
                <a:pPr lvl="2"/>
                <a:r>
                  <a:rPr lang="en-US" dirty="0"/>
                  <a:t>Spectral Laplacian Spatial Context Pooling</a:t>
                </a:r>
              </a:p>
              <a:p>
                <a:pPr lvl="2"/>
                <a:r>
                  <a:rPr lang="en-US" dirty="0"/>
                  <a:t>Gaussian Multi-Scale Temporal Pooling</a:t>
                </a:r>
              </a:p>
              <a:p>
                <a:pPr lvl="2"/>
                <a:r>
                  <a:rPr lang="en-US" dirty="0"/>
                  <a:t>Slot-Specific Pose-Adaptive Prompting</a:t>
                </a:r>
              </a:p>
              <a:p>
                <a:pPr lvl="1"/>
                <a:endParaRPr lang="en-US" altLang="en-US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D8C33-D3D1-17E0-E110-7D5229EB91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8" t="-3247" r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620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25AFB-57BA-FCEF-7536-39AC6227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01" y="0"/>
            <a:ext cx="11321143" cy="984703"/>
          </a:xfrm>
        </p:spPr>
        <p:txBody>
          <a:bodyPr/>
          <a:lstStyle/>
          <a:p>
            <a:r>
              <a:rPr lang="en-US" dirty="0"/>
              <a:t>Network Architecture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F21C3F66-754D-711A-DC37-E34F0C31C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104" y="0"/>
            <a:ext cx="4741047" cy="627001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730EC5-CFF4-A107-198F-75969D7C9341}"/>
                  </a:ext>
                </a:extLst>
              </p:cNvPr>
              <p:cNvSpPr txBox="1"/>
              <p:nvPr/>
            </p:nvSpPr>
            <p:spPr>
              <a:xfrm>
                <a:off x="578901" y="841681"/>
                <a:ext cx="6297760" cy="53839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2D Positional Embedding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2D </a:t>
                </a:r>
                <a:r>
                  <a:rPr lang="en-US" dirty="0" err="1"/>
                  <a:t>Keypoint</a:t>
                </a:r>
                <a:r>
                  <a:rPr lang="en-US" dirty="0"/>
                  <a:t> Inputs -&gt; 2D embeddings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Pose-Conditioned Prompt Modeling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Laplacian multi-head spatial context pooler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Gaussian multi-head temporal context pooler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Slot-aware context fusion -&gt; Adaptive prompt with pose contexts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Pose-Reconstruction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Pose Modeling Stream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Spatial/Temporal MHSA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Adaptive Prompt-Pose Cross Attention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Motion Refinement Stream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Spatial/Temporal Graph Attention 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Pose update from 2 streams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Regression head -&gt; 3D </a:t>
                </a:r>
                <a:r>
                  <a:rPr lang="en-US" dirty="0" err="1"/>
                  <a:t>Keypoint</a:t>
                </a:r>
                <a:r>
                  <a:rPr lang="en-US" dirty="0"/>
                  <a:t> Outputs</a:t>
                </a: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3730EC5-CFF4-A107-198F-75969D7C9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01" y="841681"/>
                <a:ext cx="6297760" cy="5383974"/>
              </a:xfrm>
              <a:prstGeom prst="rect">
                <a:avLst/>
              </a:prstGeom>
              <a:blipFill>
                <a:blip r:embed="rId3"/>
                <a:stretch>
                  <a:fillRect l="-871" t="-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881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C27C-3D05-BDBC-D75F-810CBF4E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749" y="206897"/>
            <a:ext cx="5375991" cy="984703"/>
          </a:xfrm>
        </p:spPr>
        <p:txBody>
          <a:bodyPr>
            <a:normAutofit fontScale="90000"/>
          </a:bodyPr>
          <a:lstStyle/>
          <a:p>
            <a:r>
              <a:rPr lang="en-US" dirty="0"/>
              <a:t>Spatial Laplacian Contextual Pooling</a:t>
            </a:r>
          </a:p>
        </p:txBody>
      </p:sp>
      <p:pic>
        <p:nvPicPr>
          <p:cNvPr id="5" name="Content Placeholder 4" descr="A collage of graphs and diagrams&#10;&#10;AI-generated content may be incorrect.">
            <a:extLst>
              <a:ext uri="{FF2B5EF4-FFF2-40B4-BE49-F238E27FC236}">
                <a16:creationId xmlns:a16="http://schemas.microsoft.com/office/drawing/2014/main" id="{5D77A087-1507-77C3-EE8A-C7AF245C6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45" y="206897"/>
            <a:ext cx="5186263" cy="594207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AECDBD-5990-4EAA-650F-E71D95641467}"/>
                  </a:ext>
                </a:extLst>
              </p:cNvPr>
              <p:cNvSpPr txBox="1"/>
              <p:nvPr/>
            </p:nvSpPr>
            <p:spPr>
              <a:xfrm>
                <a:off x="1143310" y="1453147"/>
                <a:ext cx="5186263" cy="4348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Skeleton as Graph</a:t>
                </a:r>
              </a:p>
              <a:p>
                <a:pPr lvl="1"/>
                <a:r>
                  <a:rPr lang="en-US" dirty="0"/>
                  <a:t>Graph: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Adjacency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Laplacian: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Eigen decomposition: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m:rPr>
                          <m:sty m:val="p"/>
                        </m:rPr>
                        <a:rPr lang="el-GR" i="0">
                          <a:latin typeface="Cambria Math" panose="02040503050406030204" pitchFamily="18" charset="0"/>
                        </a:rPr>
                        <m:t>Λ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Spectral Projection</a:t>
                </a:r>
              </a:p>
              <a:p>
                <a:pPr lvl="1"/>
                <a:r>
                  <a:rPr lang="en-US" dirty="0"/>
                  <a:t>Pose features: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Spectral domain: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Convert joint space → frequency space</a:t>
                </a:r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AECDBD-5990-4EAA-650F-E71D95641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310" y="1453147"/>
                <a:ext cx="5186263" cy="4348178"/>
              </a:xfrm>
              <a:prstGeom prst="rect">
                <a:avLst/>
              </a:prstGeom>
              <a:blipFill>
                <a:blip r:embed="rId3"/>
                <a:stretch>
                  <a:fillRect l="-1059" t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C22FB1F-9CC3-96A1-1901-3D0627664E95}"/>
              </a:ext>
            </a:extLst>
          </p:cNvPr>
          <p:cNvSpPr/>
          <p:nvPr/>
        </p:nvSpPr>
        <p:spPr>
          <a:xfrm>
            <a:off x="6344817" y="139959"/>
            <a:ext cx="5217058" cy="314441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31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F4A0E-87D5-DD58-B3B3-67AF505F1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EBE-AB75-DE2E-CF2E-FD5C3C48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26" y="199053"/>
            <a:ext cx="5173513" cy="1129005"/>
          </a:xfrm>
        </p:spPr>
        <p:txBody>
          <a:bodyPr>
            <a:normAutofit fontScale="90000"/>
          </a:bodyPr>
          <a:lstStyle/>
          <a:p>
            <a:r>
              <a:rPr lang="en-US" dirty="0"/>
              <a:t>Spatial Laplacian Contextual Pooling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B69B4-5D9B-CE01-1530-EBB6250265E0}"/>
                  </a:ext>
                </a:extLst>
              </p:cNvPr>
              <p:cNvSpPr txBox="1"/>
              <p:nvPr/>
            </p:nvSpPr>
            <p:spPr>
              <a:xfrm>
                <a:off x="938037" y="1349829"/>
                <a:ext cx="6097554" cy="4977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Gaussian Frequency Filters</a:t>
                </a:r>
              </a:p>
              <a:p>
                <a:pPr lvl="1"/>
                <a:r>
                  <a:rPr lang="en-US" dirty="0"/>
                  <a:t>For each head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center frequency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bandwidth</a:t>
                </a:r>
              </a:p>
              <a:p>
                <a:pPr lvl="1"/>
                <a:r>
                  <a:rPr lang="en-US" dirty="0"/>
                  <a:t>Low 𝜆 → smooth global posture</a:t>
                </a:r>
              </a:p>
              <a:p>
                <a:pPr lvl="1"/>
                <a:r>
                  <a:rPr lang="en-US" dirty="0"/>
                  <a:t>High 𝜆 → local articulation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Spatial Context Vector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Pool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⊙</m:t>
                                  </m:r>
                                  <m:acc>
                                    <m:accPr>
                                      <m:chr m:val="̃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pPr lvl="1"/>
                <a:r>
                  <a:rPr lang="en-US" dirty="0"/>
                  <a:t>Aggregate heads: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B69B4-5D9B-CE01-1530-EBB625026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37" y="1349829"/>
                <a:ext cx="6097554" cy="4977581"/>
              </a:xfrm>
              <a:prstGeom prst="rect">
                <a:avLst/>
              </a:prstGeom>
              <a:blipFill>
                <a:blip r:embed="rId2"/>
                <a:stretch>
                  <a:fillRect l="-900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4" descr="A collage of graphs and diagrams&#10;&#10;AI-generated content may be incorrect.">
            <a:extLst>
              <a:ext uri="{FF2B5EF4-FFF2-40B4-BE49-F238E27FC236}">
                <a16:creationId xmlns:a16="http://schemas.microsoft.com/office/drawing/2014/main" id="{C95E3C87-B20E-1B58-D569-ECC0A477C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445" y="206897"/>
            <a:ext cx="5186263" cy="5942076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D3E876-98F1-C9B2-4A0F-80244A10C923}"/>
              </a:ext>
            </a:extLst>
          </p:cNvPr>
          <p:cNvSpPr/>
          <p:nvPr/>
        </p:nvSpPr>
        <p:spPr>
          <a:xfrm>
            <a:off x="6475445" y="3093774"/>
            <a:ext cx="5217058" cy="314441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2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B176-0613-F1D9-7B9D-2C58524F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Gaussian Contextual Pooling</a:t>
            </a:r>
          </a:p>
        </p:txBody>
      </p:sp>
      <p:pic>
        <p:nvPicPr>
          <p:cNvPr id="5" name="Content Placeholder 4" descr="A diagram of different types of lines&#10;&#10;AI-generated content may be incorrect.">
            <a:extLst>
              <a:ext uri="{FF2B5EF4-FFF2-40B4-BE49-F238E27FC236}">
                <a16:creationId xmlns:a16="http://schemas.microsoft.com/office/drawing/2014/main" id="{6C4459BC-AC57-DB89-A14A-A8B213341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363" y="1961761"/>
            <a:ext cx="6513625" cy="382943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D3ED8D-EF3C-4A33-82F1-30263E90CE45}"/>
                  </a:ext>
                </a:extLst>
              </p:cNvPr>
              <p:cNvSpPr txBox="1"/>
              <p:nvPr/>
            </p:nvSpPr>
            <p:spPr>
              <a:xfrm>
                <a:off x="585496" y="1539115"/>
                <a:ext cx="6097554" cy="5088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For each head: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endChr m:val=""/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sSup>
                                        <m:sSupPr>
                                          <m:ctrlPr>
                                            <a:rPr lang="ar-A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"/>
                                              <m:endChr m:val=""/>
                                              <m:ctrlPr>
                                                <a:rPr lang="ar-A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ar-AE" i="0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ar-AE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</m:num>
                                <m:den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Apply: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→ instantaneous velocity</a:t>
                </a:r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→ long-range intent</a:t>
                </a:r>
              </a:p>
              <a:p>
                <a:pPr lvl="1"/>
                <a:r>
                  <a:rPr lang="en-US" dirty="0"/>
                  <a:t>Separates jitter and sustained motion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Temporal Context Vector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Pool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𝜂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ar-AE" b="0" dirty="0"/>
              </a:p>
              <a:p>
                <a:pPr lvl="1"/>
                <a:r>
                  <a:rPr lang="en-US" dirty="0"/>
                  <a:t>Aggregate heads: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DD3ED8D-EF3C-4A33-82F1-30263E90C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96" y="1539115"/>
                <a:ext cx="6097554" cy="5088637"/>
              </a:xfrm>
              <a:prstGeom prst="rect">
                <a:avLst/>
              </a:prstGeom>
              <a:blipFill>
                <a:blip r:embed="rId3"/>
                <a:stretch>
                  <a:fillRect l="-800" t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162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02D2-8E71-61DB-997E-AD1ACCF95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CC21-7EA5-F595-9343-DDCD9BBE1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3" y="120492"/>
            <a:ext cx="11321143" cy="984703"/>
          </a:xfrm>
        </p:spPr>
        <p:txBody>
          <a:bodyPr/>
          <a:lstStyle/>
          <a:p>
            <a:r>
              <a:rPr lang="en-US" dirty="0"/>
              <a:t>Pose-Conditioned Prompt Modeling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A3B2316D-8E8B-3331-1CEF-1824DA941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65"/>
          <a:stretch>
            <a:fillRect/>
          </a:stretch>
        </p:blipFill>
        <p:spPr>
          <a:xfrm>
            <a:off x="5931802" y="1359840"/>
            <a:ext cx="5824769" cy="373872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950F26-2E02-1791-E179-15FBD14D8C12}"/>
                  </a:ext>
                </a:extLst>
              </p:cNvPr>
              <p:cNvSpPr txBox="1"/>
              <p:nvPr/>
            </p:nvSpPr>
            <p:spPr>
              <a:xfrm>
                <a:off x="583001" y="1521044"/>
                <a:ext cx="4931392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Joint Pose Context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Slot-aware fusion: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MLP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Each semantic slot sees different projection of same context.</a:t>
                </a:r>
              </a:p>
              <a:p>
                <a:pPr>
                  <a:buNone/>
                </a:pPr>
                <a:endParaRPr lang="en-US" dirty="0"/>
              </a:p>
              <a:p>
                <a:r>
                  <a:rPr lang="en-US" b="1" dirty="0"/>
                  <a:t>Prompt Adaptation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:r>
                  <a:rPr lang="ar-AE" dirty="0"/>
                  <a:t> </a:t>
                </a:r>
                <a:r>
                  <a:rPr lang="en-US" dirty="0"/>
                  <a:t>slot-specific pose descriptor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ar-AE" dirty="0"/>
                  <a:t>= </a:t>
                </a:r>
                <a:r>
                  <a:rPr lang="en-US" dirty="0"/>
                  <a:t> MLP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950F26-2E02-1791-E179-15FBD14D8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01" y="1521044"/>
                <a:ext cx="4931392" cy="3416320"/>
              </a:xfrm>
              <a:prstGeom prst="rect">
                <a:avLst/>
              </a:prstGeom>
              <a:blipFill>
                <a:blip r:embed="rId3"/>
                <a:stretch>
                  <a:fillRect l="-1112" t="-1071" b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041EF4A-C84C-B59B-B6B7-99D25DF4A031}"/>
              </a:ext>
            </a:extLst>
          </p:cNvPr>
          <p:cNvSpPr/>
          <p:nvPr/>
        </p:nvSpPr>
        <p:spPr>
          <a:xfrm>
            <a:off x="8080311" y="1675325"/>
            <a:ext cx="1007706" cy="279403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ECEF56-8F3C-1441-D813-553DA7580237}"/>
              </a:ext>
            </a:extLst>
          </p:cNvPr>
          <p:cNvSpPr/>
          <p:nvPr/>
        </p:nvSpPr>
        <p:spPr>
          <a:xfrm>
            <a:off x="9088017" y="3135086"/>
            <a:ext cx="2351314" cy="152089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6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E405-6691-DBBC-0E2E-AD25D9B4F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D9A0A-3C57-69D3-5CAB-79DAE23D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3" y="120492"/>
            <a:ext cx="11321143" cy="984703"/>
          </a:xfrm>
        </p:spPr>
        <p:txBody>
          <a:bodyPr/>
          <a:lstStyle/>
          <a:p>
            <a:r>
              <a:rPr lang="en-US" dirty="0"/>
              <a:t>Pose-Conditioned Prompt Modeling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B07B7819-B802-17FB-CA6A-A14AE6AD2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465"/>
          <a:stretch>
            <a:fillRect/>
          </a:stretch>
        </p:blipFill>
        <p:spPr>
          <a:xfrm>
            <a:off x="5931802" y="1359840"/>
            <a:ext cx="5824769" cy="373872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CB217-1EE1-F67C-2AB5-974CE11528A1}"/>
                  </a:ext>
                </a:extLst>
              </p:cNvPr>
              <p:cNvSpPr txBox="1"/>
              <p:nvPr/>
            </p:nvSpPr>
            <p:spPr>
              <a:xfrm>
                <a:off x="601661" y="1359840"/>
                <a:ext cx="4931392" cy="4371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Prompt Representation</a:t>
                </a:r>
              </a:p>
              <a:p>
                <a:pPr lvl="1"/>
                <a:r>
                  <a:rPr lang="en-US" dirty="0"/>
                  <a:t>For each semantic slot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Token length: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Frozen CLIP tokens: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Learnable tokens: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;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Semantic meaning shifts based on pose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Prompt Injection</a:t>
                </a:r>
              </a:p>
              <a:p>
                <a:pPr lvl="1"/>
                <a:r>
                  <a:rPr lang="en-US" dirty="0"/>
                  <a:t>Pooled prompt embedding: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lvl="1"/>
                <a:r>
                  <a:rPr lang="en-US" dirty="0"/>
                  <a:t>Add to pose features: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i="1"/>
                        <m:t>Broadcast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b="0" dirty="0"/>
              </a:p>
              <a:p>
                <a:pPr lvl="1"/>
                <a:r>
                  <a:rPr lang="en-US" dirty="0"/>
                  <a:t>Also used in cross-attention.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BBCB217-1EE1-F67C-2AB5-974CE1152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661" y="1359840"/>
                <a:ext cx="4931392" cy="4371581"/>
              </a:xfrm>
              <a:prstGeom prst="rect">
                <a:avLst/>
              </a:prstGeom>
              <a:blipFill>
                <a:blip r:embed="rId3"/>
                <a:stretch>
                  <a:fillRect l="-1112" t="-6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C0FF5D2-A859-E897-FDAE-33DC22FA7CCD}"/>
              </a:ext>
            </a:extLst>
          </p:cNvPr>
          <p:cNvSpPr/>
          <p:nvPr/>
        </p:nvSpPr>
        <p:spPr>
          <a:xfrm>
            <a:off x="6288832" y="1665995"/>
            <a:ext cx="1968759" cy="279403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34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83934-9883-EB25-C525-36C4CEAC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1D42A-07AF-E7E5-AD2C-708B3CFB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88" y="1477298"/>
            <a:ext cx="11543212" cy="469650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Datasets:</a:t>
            </a:r>
          </a:p>
          <a:p>
            <a:pPr lvl="1"/>
            <a:r>
              <a:rPr lang="en-US" dirty="0"/>
              <a:t>Standard: train and test on clean 2D </a:t>
            </a:r>
            <a:r>
              <a:rPr lang="en-US" dirty="0" err="1"/>
              <a:t>keypoint</a:t>
            </a:r>
            <a:r>
              <a:rPr lang="en-US" dirty="0"/>
              <a:t> inputs of the same dataset</a:t>
            </a:r>
          </a:p>
          <a:p>
            <a:pPr lvl="2"/>
            <a:r>
              <a:rPr lang="en-US" sz="2300" dirty="0"/>
              <a:t>Human3.6M</a:t>
            </a:r>
          </a:p>
          <a:p>
            <a:pPr lvl="3"/>
            <a:r>
              <a:rPr lang="en-US" sz="2100" dirty="0"/>
              <a:t>Large-scale indoor </a:t>
            </a:r>
            <a:r>
              <a:rPr lang="en-US" sz="2100" dirty="0" err="1"/>
              <a:t>MoCap</a:t>
            </a:r>
            <a:r>
              <a:rPr lang="en-US" sz="2100" dirty="0"/>
              <a:t> with paired 2D–3D</a:t>
            </a:r>
          </a:p>
          <a:p>
            <a:pPr lvl="3"/>
            <a:r>
              <a:rPr lang="en-US" sz="2100" dirty="0"/>
              <a:t>11 subjects, 15 daily actions, 4 cameras</a:t>
            </a:r>
          </a:p>
          <a:p>
            <a:pPr lvl="2"/>
            <a:r>
              <a:rPr lang="en-US" sz="2300" dirty="0"/>
              <a:t>MPI-INF-3DHP</a:t>
            </a:r>
          </a:p>
          <a:p>
            <a:pPr lvl="3"/>
            <a:r>
              <a:rPr lang="en-US" sz="2100" dirty="0"/>
              <a:t>Diverse viewpoints, appearance, and activities</a:t>
            </a:r>
          </a:p>
          <a:p>
            <a:pPr lvl="1"/>
            <a:r>
              <a:rPr lang="en-US" dirty="0"/>
              <a:t>In-the-wild &amp; Sport: train on clean 2d </a:t>
            </a:r>
            <a:r>
              <a:rPr lang="en-US" dirty="0" err="1"/>
              <a:t>keypoints</a:t>
            </a:r>
            <a:r>
              <a:rPr lang="en-US" dirty="0"/>
              <a:t> of Human3.6M, test on noisy 2D detected </a:t>
            </a:r>
            <a:r>
              <a:rPr lang="en-US" dirty="0" err="1"/>
              <a:t>keypoints</a:t>
            </a:r>
            <a:r>
              <a:rPr lang="en-US" dirty="0"/>
              <a:t> of different dataset  </a:t>
            </a:r>
          </a:p>
          <a:p>
            <a:pPr lvl="2"/>
            <a:r>
              <a:rPr lang="en-US" sz="2300" dirty="0"/>
              <a:t>3DPW</a:t>
            </a:r>
          </a:p>
          <a:p>
            <a:pPr lvl="3"/>
            <a:r>
              <a:rPr lang="en-US" sz="2100" dirty="0"/>
              <a:t>In-the-wild handheld videos (60 sequences) </a:t>
            </a:r>
          </a:p>
          <a:p>
            <a:pPr lvl="2"/>
            <a:r>
              <a:rPr lang="en-US" sz="2300" dirty="0"/>
              <a:t>AthletePose3D</a:t>
            </a:r>
          </a:p>
          <a:p>
            <a:pPr lvl="3"/>
            <a:r>
              <a:rPr lang="en-US" sz="2100" dirty="0"/>
              <a:t>8 athletes, 12 sports actions (running, track &amp; field, skating)</a:t>
            </a:r>
          </a:p>
          <a:p>
            <a:pPr lvl="3"/>
            <a:r>
              <a:rPr lang="en-US" sz="2100" dirty="0"/>
              <a:t>60–120 FPS, extreme motion (high velocity/acceleration)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Settings: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, single RTX 4090 GPU</a:t>
            </a:r>
          </a:p>
          <a:p>
            <a:pPr lvl="1"/>
            <a:r>
              <a:rPr lang="en-US" dirty="0"/>
              <a:t>Spatial Laplacian Pooling: 3 heads, </a:t>
            </a:r>
            <a:r>
              <a:rPr lang="el-GR" dirty="0"/>
              <a:t>σ = [0.25, 0.75, 1.25], μ = 0</a:t>
            </a:r>
          </a:p>
          <a:p>
            <a:pPr lvl="1"/>
            <a:r>
              <a:rPr lang="en-US" dirty="0"/>
              <a:t>Temporal Gaussian Pooling: 3 heads, </a:t>
            </a:r>
            <a:r>
              <a:rPr lang="el-GR" dirty="0"/>
              <a:t>σ = [1.5, 4.0, 10.0] (</a:t>
            </a:r>
            <a:r>
              <a:rPr lang="en-US" dirty="0"/>
              <a:t>bounded in 0.5–20)</a:t>
            </a:r>
          </a:p>
          <a:p>
            <a:pPr lvl="1"/>
            <a:r>
              <a:rPr lang="en-US" dirty="0"/>
              <a:t>Diffusion experiments follow D3DP parameter settings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54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BF32-03D0-488A-6545-EA9D9BA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8" y="155601"/>
            <a:ext cx="11321143" cy="984703"/>
          </a:xfrm>
        </p:spPr>
        <p:txBody>
          <a:bodyPr/>
          <a:lstStyle/>
          <a:p>
            <a:r>
              <a:rPr lang="en-US" dirty="0"/>
              <a:t>Results on clean 2D </a:t>
            </a:r>
            <a:r>
              <a:rPr lang="en-US" dirty="0" err="1"/>
              <a:t>keypoints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261EA-34D4-CC03-4507-E7941449B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7" y="1140304"/>
            <a:ext cx="5331549" cy="40848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2C04BB-1D2E-C488-C3C3-7EAD193C6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135" y="1308736"/>
            <a:ext cx="4555811" cy="36485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0ECC4-E218-1584-7F8D-772B86973274}"/>
              </a:ext>
            </a:extLst>
          </p:cNvPr>
          <p:cNvSpPr txBox="1"/>
          <p:nvPr/>
        </p:nvSpPr>
        <p:spPr>
          <a:xfrm>
            <a:off x="559836" y="5225143"/>
            <a:ext cx="533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We attain the lowest MPJPE and P-MPJPE of 28.2 mm and 23.1mm, improving over the strongest diffusion baseline </a:t>
            </a:r>
            <a:r>
              <a:rPr lang="en-US" dirty="0" err="1"/>
              <a:t>GAt-FuN</a:t>
            </a:r>
            <a:r>
              <a:rPr lang="en-US" dirty="0"/>
              <a:t> by 4.0% and 0.9%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EF421-9EA7-A850-28D2-B03B9563D548}"/>
              </a:ext>
            </a:extLst>
          </p:cNvPr>
          <p:cNvSpPr txBox="1"/>
          <p:nvPr/>
        </p:nvSpPr>
        <p:spPr>
          <a:xfrm>
            <a:off x="6754135" y="5125740"/>
            <a:ext cx="45558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improve 2.1% over </a:t>
            </a:r>
            <a:r>
              <a:rPr lang="en-US" dirty="0" err="1"/>
              <a:t>GAtFuN</a:t>
            </a:r>
            <a:r>
              <a:rPr lang="en-US" dirty="0"/>
              <a:t> (Phamet al., 2026) and 4.2% over SAMA (Lu et al., 2025) in MPJPE.</a:t>
            </a:r>
          </a:p>
        </p:txBody>
      </p:sp>
    </p:spTree>
    <p:extLst>
      <p:ext uri="{BB962C8B-B14F-4D97-AF65-F5344CB8AC3E}">
        <p14:creationId xmlns:p14="http://schemas.microsoft.com/office/powerpoint/2010/main" val="336947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9F56-AFEA-05AB-BF0B-C658171C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890" y="338132"/>
            <a:ext cx="9590760" cy="984703"/>
          </a:xfrm>
        </p:spPr>
        <p:txBody>
          <a:bodyPr/>
          <a:lstStyle/>
          <a:p>
            <a:r>
              <a:rPr lang="en-US" dirty="0"/>
              <a:t>Results on noisy 2D </a:t>
            </a:r>
            <a:r>
              <a:rPr lang="en-US" dirty="0" err="1"/>
              <a:t>keypoints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0139D2-6842-C59F-8604-B1A1EBD25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90" y="1698171"/>
            <a:ext cx="5673732" cy="33310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220FA-1D74-1080-7147-FBE97D5A2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97" y="2499841"/>
            <a:ext cx="4626213" cy="1297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09C2CE-56CB-0813-E3D6-EC6E4D0B0051}"/>
              </a:ext>
            </a:extLst>
          </p:cNvPr>
          <p:cNvSpPr txBox="1"/>
          <p:nvPr/>
        </p:nvSpPr>
        <p:spPr>
          <a:xfrm>
            <a:off x="756888" y="5159829"/>
            <a:ext cx="56737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method further reduces P-MPJPE to 91.7mm, P-MPJVE of 8.0 mm, and the best Accel score (6.1 mm) among all compared methods.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794F5-583A-DB50-9202-AA90CD060205}"/>
              </a:ext>
            </a:extLst>
          </p:cNvPr>
          <p:cNvSpPr txBox="1"/>
          <p:nvPr/>
        </p:nvSpPr>
        <p:spPr>
          <a:xfrm>
            <a:off x="6892755" y="3884856"/>
            <a:ext cx="45423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reduce P-MPJPE from 113.6 mm (</a:t>
            </a:r>
            <a:r>
              <a:rPr lang="en-US" dirty="0" err="1"/>
              <a:t>GAtFuN</a:t>
            </a:r>
            <a:r>
              <a:rPr lang="en-US" dirty="0"/>
              <a:t>) to 103.0 mm, while also obtaining the lowest P-MPJVE (9.7 mm) and Accel (8.5 mm).</a:t>
            </a:r>
          </a:p>
        </p:txBody>
      </p:sp>
    </p:spTree>
    <p:extLst>
      <p:ext uri="{BB962C8B-B14F-4D97-AF65-F5344CB8AC3E}">
        <p14:creationId xmlns:p14="http://schemas.microsoft.com/office/powerpoint/2010/main" val="3507535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4BC7B-C02B-6AC5-3E65-50D55B750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Ablation &amp; Computation Costs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F9428-2FAB-73E8-1D00-696D588C4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45" y="1588198"/>
            <a:ext cx="5379041" cy="1840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EE283A-85CF-0A3A-0820-4873F56D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275" y="1964576"/>
            <a:ext cx="5609880" cy="1360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C83F84-6552-1F9C-1B3D-E891284B0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5563" y="3582754"/>
            <a:ext cx="6459698" cy="246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1397"/>
      </p:ext>
    </p:extLst>
  </p:cSld>
  <p:clrMapOvr>
    <a:masterClrMapping/>
  </p:clrMapOvr>
</p:sld>
</file>

<file path=ppt/theme/theme1.xml><?xml version="1.0" encoding="utf-8"?>
<a:theme xmlns:a="http://schemas.openxmlformats.org/drawingml/2006/main" name="covi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vis" id="{E97EAE5A-6ED3-40F8-8572-7C2171E4477C}" vid="{BC0DEF65-8CF8-4D97-943E-B1B9C0AA3E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covis</Template>
  <TotalTime>1262</TotalTime>
  <Words>807</Words>
  <Application>Microsoft Office PowerPoint</Application>
  <PresentationFormat>Widescreen</PresentationFormat>
  <Paragraphs>147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covis</vt:lpstr>
      <vt:lpstr>From Static to Adaptive Prompts: Motion-Conditioned Semantic Guidance for 3D Pose Estimation</vt:lpstr>
      <vt:lpstr>Monocular 3D Human Pose Estimation Challenges</vt:lpstr>
      <vt:lpstr>Problems and Our Ideas</vt:lpstr>
      <vt:lpstr>Network Architecture</vt:lpstr>
      <vt:lpstr>Spatial Laplacian Contextual Pooling</vt:lpstr>
      <vt:lpstr>Spatial Laplacian Contextual Pooling</vt:lpstr>
      <vt:lpstr>Temporal Gaussian Contextual Pooling</vt:lpstr>
      <vt:lpstr>Pose-Conditioned Prompt Modeling</vt:lpstr>
      <vt:lpstr>Pose-Conditioned Prompt Modeling</vt:lpstr>
      <vt:lpstr>Implementation</vt:lpstr>
      <vt:lpstr>Results on clean 2D keypoints</vt:lpstr>
      <vt:lpstr>Results on noisy 2D keypoints</vt:lpstr>
      <vt:lpstr>Ablation &amp; Computation Costs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Registration of Point Sets with Large and Uneven Non-Rigid Deformation</dc:title>
  <dc:creator>Maharjan, Amar</dc:creator>
  <cp:lastModifiedBy>Yuan, Xiaohui</cp:lastModifiedBy>
  <cp:revision>40</cp:revision>
  <dcterms:created xsi:type="dcterms:W3CDTF">2022-07-19T22:32:27Z</dcterms:created>
  <dcterms:modified xsi:type="dcterms:W3CDTF">2026-02-09T02:02:48Z</dcterms:modified>
</cp:coreProperties>
</file>