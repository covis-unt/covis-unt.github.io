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79" r:id="rId2"/>
    <p:sldId id="377" r:id="rId3"/>
    <p:sldId id="380" r:id="rId4"/>
    <p:sldId id="381" r:id="rId5"/>
    <p:sldId id="383" r:id="rId6"/>
    <p:sldId id="382" r:id="rId7"/>
    <p:sldId id="384" r:id="rId8"/>
    <p:sldId id="385" r:id="rId9"/>
    <p:sldId id="386" r:id="rId10"/>
    <p:sldId id="387" r:id="rId11"/>
    <p:sldId id="389" r:id="rId12"/>
    <p:sldId id="390" r:id="rId13"/>
    <p:sldId id="391" r:id="rId14"/>
    <p:sldId id="392" r:id="rId15"/>
    <p:sldId id="3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2978" autoAdjust="0"/>
  </p:normalViewPr>
  <p:slideViewPr>
    <p:cSldViewPr snapToGrid="0">
      <p:cViewPr varScale="1">
        <p:scale>
          <a:sx n="103" d="100"/>
          <a:sy n="103" d="100"/>
        </p:scale>
        <p:origin x="8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T=4→T=2  means: </a:t>
            </a:r>
            <a:r>
              <a:rPr lang="en-US" b="1" dirty="0"/>
              <a:t>The model was trained with a temporal window of 4 frames, but during inference it only uses 2 frames.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2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3/13/2026 11:11 AM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509"/>
            <a:ext cx="9144000" cy="3144838"/>
          </a:xfrm>
        </p:spPr>
        <p:txBody>
          <a:bodyPr/>
          <a:lstStyle/>
          <a:p>
            <a:r>
              <a:rPr lang="en-US" dirty="0"/>
              <a:t>Point2Pose: A Generative Framework for 3D Human Pose Estimation</a:t>
            </a:r>
            <a:br>
              <a:rPr lang="en-US" dirty="0"/>
            </a:br>
            <a:r>
              <a:rPr lang="en-US" dirty="0"/>
              <a:t>with Multi-View Point Cloud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4169617"/>
            <a:ext cx="9144000" cy="130492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Hyunsoo</a:t>
            </a:r>
            <a:r>
              <a:rPr lang="en-US" dirty="0"/>
              <a:t> Lee, </a:t>
            </a:r>
            <a:r>
              <a:rPr lang="en-US" dirty="0" err="1"/>
              <a:t>Daeum</a:t>
            </a:r>
            <a:r>
              <a:rPr lang="en-US" dirty="0"/>
              <a:t> Jeon, </a:t>
            </a:r>
            <a:r>
              <a:rPr lang="en-US" dirty="0" err="1"/>
              <a:t>Hyeokjae</a:t>
            </a:r>
            <a:r>
              <a:rPr lang="en-US" dirty="0"/>
              <a:t> Oh</a:t>
            </a:r>
          </a:p>
          <a:p>
            <a:r>
              <a:rPr lang="en-US" dirty="0"/>
              <a:t>WACV 2026</a:t>
            </a:r>
          </a:p>
          <a:p>
            <a:r>
              <a:rPr lang="en-US" dirty="0"/>
              <a:t>Presenter: Yen Pham</a:t>
            </a:r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125640"/>
            <a:ext cx="11049001" cy="798091"/>
          </a:xfrm>
        </p:spPr>
        <p:txBody>
          <a:bodyPr anchor="ctr"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C5294-6F86-C892-853E-81671A81C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4893" y="1082302"/>
            <a:ext cx="11049001" cy="50666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(1) Complex human body geometry and self-occlusion: </a:t>
            </a:r>
          </a:p>
          <a:p>
            <a:pPr lvl="1"/>
            <a:r>
              <a:rPr lang="en-US" sz="1800" dirty="0"/>
              <a:t>Joints often occlude each other, especially in sparse LiDAR/point-cloud data. 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(2) Limitations of existing pipelines: </a:t>
            </a:r>
          </a:p>
          <a:p>
            <a:pPr lvl="1"/>
            <a:r>
              <a:rPr lang="en-US" sz="1800" dirty="0"/>
              <a:t>Many methods rely on 2D → 3D lifting, which loses spatial information. </a:t>
            </a:r>
          </a:p>
          <a:p>
            <a:pPr lvl="1"/>
            <a:r>
              <a:rPr lang="en-US" sz="1800" dirty="0"/>
              <a:t>Existing point-cloud methods struggle with fine pose details and temporal motion patterns. </a:t>
            </a:r>
          </a:p>
          <a:p>
            <a:pPr marL="0" indent="0">
              <a:buNone/>
            </a:pPr>
            <a:r>
              <a:rPr lang="en-US" sz="1800" dirty="0"/>
              <a:t>(3) Lack of large real-world point-cloud datasets: </a:t>
            </a:r>
          </a:p>
          <a:p>
            <a:pPr lvl="1"/>
            <a:r>
              <a:rPr lang="en-US" sz="1800" dirty="0"/>
              <a:t>Existing datasets often contain single-view LiDAR, simple motions, or sparse point clouds.</a:t>
            </a:r>
          </a:p>
          <a:p>
            <a:pPr marL="457200" lvl="1" indent="0">
              <a:buNone/>
            </a:pPr>
            <a:r>
              <a:rPr lang="en-US" sz="1800" b="1" dirty="0"/>
              <a:t>=&gt; How to directly estimate accurate 3D human pose from raw point clouds while modeling pose uncertainty and temporal dynamics?</a:t>
            </a:r>
          </a:p>
        </p:txBody>
      </p:sp>
      <p:pic>
        <p:nvPicPr>
          <p:cNvPr id="3" name="Picture 2" descr="A group of constellations in different colors&#10;&#10;AI-generated content may be incorrect.">
            <a:extLst>
              <a:ext uri="{FF2B5EF4-FFF2-40B4-BE49-F238E27FC236}">
                <a16:creationId xmlns:a16="http://schemas.microsoft.com/office/drawing/2014/main" id="{4D6AEBD1-4E16-B57B-559C-272729B8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93" y="1740669"/>
            <a:ext cx="7026413" cy="2178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622D-0C2B-52D8-62AF-1F355C84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B5380-056F-DFC5-74EA-B9E4128F7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1480457"/>
            <a:ext cx="11321142" cy="64672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Point2Pose, the first generative framework that directly estimates 3D human pose from raw point clouds via diffusion and conditional flow matching without requiring 2D-to-3D lifting.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4BA6A-F776-FF1E-D2BE-DAD1AAC3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99" y="2257811"/>
            <a:ext cx="9307224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7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730D-F1E5-30E6-4D7D-839FFDC7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4E11C-4D65-D64B-B16D-79A1FB3EFF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6" y="1480457"/>
                <a:ext cx="7599472" cy="46965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Sequential point clouds: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ar-AE" i="1"/>
                          <m:t>𝑇</m:t>
                        </m:r>
                        <m:r>
                          <a:rPr lang="ar-AE"/>
                          <m:t>×</m:t>
                        </m:r>
                        <m:r>
                          <a:rPr lang="ar-AE" i="1"/>
                          <m:t>𝑁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3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US" dirty="0"/>
                  <a:t>Pose history: </a:t>
                </a:r>
                <a14:m>
                  <m:oMath xmlns:m="http://schemas.openxmlformats.org/officeDocument/2006/math">
                    <m:r>
                      <a:rPr lang="en-US" i="1"/>
                      <m:t>𝑋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ar-AE"/>
                          <m:t>×</m:t>
                        </m:r>
                        <m:r>
                          <a:rPr lang="ar-AE" i="1"/>
                          <m:t>𝐽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9</m:t>
                        </m:r>
                      </m:sup>
                    </m:sSup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</m:oMath>
                </a14:m>
                <a:r>
                  <a:rPr lang="en-US" dirty="0"/>
                  <a:t>= number of frames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= number of points per frame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𝐽</m:t>
                    </m:r>
                  </m:oMath>
                </a14:m>
                <a:r>
                  <a:rPr lang="en-US" dirty="0"/>
                  <a:t>= number of joints</a:t>
                </a:r>
              </a:p>
              <a:p>
                <a:r>
                  <a:rPr lang="en-US" dirty="0"/>
                  <a:t>Pose representation per joint: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mtClean="0"/>
                        </m:ctrlPr>
                      </m:sSupPr>
                      <m:e>
                        <m:r>
                          <a:rPr lang="ar-AE" i="1"/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𝑡</m:t>
                            </m:r>
                          </m:e>
                        </m:d>
                      </m:sup>
                    </m:sSup>
                    <m:r>
                      <a:rPr lang="ar-AE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𝐽</m:t>
                            </m:r>
                          </m:e>
                          <m:sup>
                            <m:d>
                              <m:dPr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 i="1"/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𝑅</m:t>
                            </m:r>
                          </m:e>
                          <m:sup>
                            <m:d>
                              <m:dPr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ar-AE" i="1"/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joint coordinates </a:t>
                </a:r>
                <a14:m>
                  <m:oMath xmlns:m="http://schemas.openxmlformats.org/officeDocument/2006/math">
                    <m:r>
                      <a:rPr lang="en-US" i="1"/>
                      <m:t>𝐽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ar-AE" i="1"/>
                          <m:t>𝐽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rotations </a:t>
                </a:r>
                <a14:m>
                  <m:oMath xmlns:m="http://schemas.openxmlformats.org/officeDocument/2006/math">
                    <m:r>
                      <a:rPr lang="en-US" i="1"/>
                      <m:t>𝑅</m:t>
                    </m:r>
                    <m:r>
                      <a:rPr lang="en-US"/>
                      <m:t>∈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ar-AE" i="1"/>
                          <m:t>𝐽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( 6D rotation representation)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4E11C-4D65-D64B-B16D-79A1FB3EF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6" y="1480457"/>
                <a:ext cx="7599472" cy="4696506"/>
              </a:xfrm>
              <a:blipFill>
                <a:blip r:embed="rId2"/>
                <a:stretch>
                  <a:fillRect l="-1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CEAED16-C166-8052-8BFC-5E8E3A4C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" r="78952"/>
          <a:stretch>
            <a:fillRect/>
          </a:stretch>
        </p:blipFill>
        <p:spPr>
          <a:xfrm>
            <a:off x="8585808" y="1251923"/>
            <a:ext cx="194942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4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88F4-6F1F-8F56-A913-D17E4009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3822-EEB2-5614-A411-73B64DEA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Spatio</a:t>
            </a:r>
            <a:r>
              <a:rPr lang="en-US" dirty="0"/>
              <a:t>-Temporal Point Cloud Encoder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1467A-D45A-1D74-D6D5-CEB73D9AF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6" y="1480457"/>
                <a:ext cx="6909008" cy="469650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600" dirty="0"/>
                  <a:t>The model extracts local + global point cloud features.</a:t>
                </a:r>
              </a:p>
              <a:p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(1) Local features: Local patches are sampled using FPS + </a:t>
                </a:r>
                <a:r>
                  <a:rPr lang="en-US" sz="2600" dirty="0" err="1"/>
                  <a:t>kNN</a:t>
                </a:r>
                <a:r>
                  <a:rPr lang="en-US" sz="2600" dirty="0"/>
                  <a:t> and encoded with Mini-</a:t>
                </a:r>
                <a:r>
                  <a:rPr lang="en-US" sz="2600" dirty="0" err="1"/>
                  <a:t>PointNet</a:t>
                </a:r>
                <a:r>
                  <a:rPr lang="en-US" sz="26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i="1"/>
                            <m:t>local</m:t>
                          </m:r>
                        </m:sub>
                      </m:sSub>
                      <m:r>
                        <a:rPr lang="ar-AE" sz="2600" b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600" b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2600" b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ar-AE" sz="2600" b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ar-AE" sz="2600" dirty="0"/>
              </a:p>
              <a:p>
                <a:pPr lvl="1"/>
                <a:r>
                  <a:rPr lang="en-US" sz="2200" dirty="0"/>
                  <a:t>G: the number of local point-cloud patches sampled from the point cloud</a:t>
                </a:r>
              </a:p>
              <a:p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(2) Global features: Extracted using </a:t>
                </a:r>
                <a:r>
                  <a:rPr lang="en-US" sz="2600" dirty="0" err="1"/>
                  <a:t>PointNet</a:t>
                </a:r>
                <a:r>
                  <a:rPr lang="en-US" sz="2600" dirty="0"/>
                  <a:t>++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i="1"/>
                            <m:t>global</m:t>
                          </m:r>
                        </m:sub>
                      </m:sSub>
                      <m:r>
                        <a:rPr lang="ar-AE" sz="2600" b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600" b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2600" b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ar-AE" sz="2600" dirty="0"/>
              </a:p>
              <a:p>
                <a:r>
                  <a:rPr lang="en-US" sz="2600" dirty="0"/>
                  <a:t>Combined point cloud feature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2600" b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;"/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600" i="1"/>
                              <m:t>local</m:t>
                            </m:r>
                          </m:sub>
                        </m:sSub>
                      </m:e>
                      <m:e>
                        <m:r>
                          <m:rPr>
                            <m:nor/>
                          </m:rPr>
                          <a:rPr lang="ar-AE" sz="2600" i="1"/>
                          <m:t>  </m:t>
                        </m:r>
                        <m:r>
                          <m:rPr>
                            <m:nor/>
                          </m:rPr>
                          <a:rPr lang="en-US" sz="2600" i="1"/>
                          <m:t>Duplicate</m:t>
                        </m:r>
                        <m:d>
                          <m:dPr>
                            <m:sepChr m:val=","/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600" i="1"/>
                                  <m:t>global</m:t>
                                </m:r>
                              </m:sub>
                            </m:sSub>
                          </m:e>
                          <m:e>
                            <m:r>
                              <a:rPr lang="ar-AE" sz="26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ar-AE" sz="26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ar-AE" sz="26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1467A-D45A-1D74-D6D5-CEB73D9AF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6" y="1480457"/>
                <a:ext cx="6909008" cy="4696506"/>
              </a:xfrm>
              <a:blipFill>
                <a:blip r:embed="rId2"/>
                <a:stretch>
                  <a:fillRect l="-1146" t="-2208" r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D107B40-2E81-B310-98C4-CB4BC2527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" r="51390" b="46251"/>
          <a:stretch>
            <a:fillRect/>
          </a:stretch>
        </p:blipFill>
        <p:spPr>
          <a:xfrm>
            <a:off x="7259217" y="2698168"/>
            <a:ext cx="4514771" cy="199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F0E9-FA47-BD7A-00A0-17E228B0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Spatio</a:t>
            </a:r>
            <a:r>
              <a:rPr lang="en-US" dirty="0"/>
              <a:t>-Temporal Point Cloud Encoder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1004C6-9078-53C2-52FF-19C72A001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6" y="1480457"/>
                <a:ext cx="6909008" cy="469650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model aggregates features across time and space using transformer attention.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/>
                        <m:t>Attn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sz="2400" b="0" i="1"/>
                            <m:t>𝑄</m:t>
                          </m:r>
                        </m:e>
                        <m:e>
                          <m:r>
                            <a:rPr lang="ar-AE" sz="2400" b="0" i="1"/>
                            <m:t>𝐾</m:t>
                          </m:r>
                        </m:e>
                        <m:e>
                          <m:r>
                            <a:rPr lang="ar-AE" sz="2400" b="0" i="1"/>
                            <m:t>𝑉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m:rPr>
                          <m:nor/>
                        </m:rPr>
                        <a:rPr lang="en-US" i="1"/>
                        <m:t>Softmax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𝑄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 i="1"/>
                                    <m:t>𝐾</m:t>
                                  </m:r>
                                </m:e>
                                <m:sup>
                                  <m:r>
                                    <a:rPr lang="ar-AE" i="1"/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i="1"/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i="1"/>
                        <m:t>𝑉</m:t>
                      </m:r>
                    </m:oMath>
                  </m:oMathPara>
                </a14:m>
                <a:endParaRPr lang="ar-AE" sz="2400" b="0" dirty="0"/>
              </a:p>
              <a:p>
                <a:r>
                  <a:rPr lang="en-US" sz="2400" dirty="0"/>
                  <a:t>Temporal attention: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a:rPr lang="ar-AE" i="1"/>
                            <m:t>𝐹</m:t>
                          </m:r>
                        </m:e>
                        <m:sub>
                          <m:r>
                            <a:rPr lang="ar-AE" i="1"/>
                            <m:t>𝑝</m:t>
                          </m:r>
                        </m:sub>
                        <m:sup>
                          <m:r>
                            <a:rPr lang="ar-AE" i="1"/>
                            <m:t>𝑡</m:t>
                          </m:r>
                        </m:sup>
                      </m:sSubSup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𝐹</m:t>
                              </m:r>
                            </m:e>
                            <m:sub>
                              <m:r>
                                <a:rPr lang="ar-AE" i="1"/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US" sz="2400" dirty="0"/>
                  <a:t>Spatial attention: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a:rPr lang="ar-AE" i="1"/>
                            <m:t>𝐹</m:t>
                          </m:r>
                        </m:e>
                        <m:sub>
                          <m:r>
                            <a:rPr lang="ar-AE" i="1"/>
                            <m:t>𝑝</m:t>
                          </m:r>
                        </m:sub>
                        <m:sup>
                          <m:r>
                            <a:rPr lang="ar-AE" i="1"/>
                            <m:t>𝑠𝑡</m:t>
                          </m:r>
                        </m:sup>
                      </m:sSubSup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𝐹</m:t>
                              </m:r>
                            </m:e>
                            <m:sub>
                              <m:r>
                                <a:rPr lang="ar-AE" i="1"/>
                                <m:t>𝑝</m:t>
                              </m:r>
                            </m:sub>
                            <m:sup>
                              <m:r>
                                <a:rPr lang="ar-AE" i="1"/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marL="0" indent="0">
                  <a:buNone/>
                </a:pPr>
                <a:endParaRPr lang="ar-AE" sz="26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1004C6-9078-53C2-52FF-19C72A001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6" y="1480457"/>
                <a:ext cx="6909008" cy="4696506"/>
              </a:xfrm>
              <a:blipFill>
                <a:blip r:embed="rId2"/>
                <a:stretch>
                  <a:fillRect l="-114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704ACF6-62A6-1A4D-6493-80DEEC0E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" r="49845" b="46251"/>
          <a:stretch>
            <a:fillRect/>
          </a:stretch>
        </p:blipFill>
        <p:spPr>
          <a:xfrm>
            <a:off x="6443302" y="3010096"/>
            <a:ext cx="5202546" cy="222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2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09C2-D16D-3484-01C7-6C4A10935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Pose-Point Feature 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0071-AD94-B7DC-4274-A470181D6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5" y="1480457"/>
                <a:ext cx="5975947" cy="46965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Past pose sequence </a:t>
                </a:r>
                <a14:m>
                  <m:oMath xmlns:m="http://schemas.openxmlformats.org/officeDocument/2006/math">
                    <m:r>
                      <a:rPr lang="en-US" b="0" i="1"/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encoded using ST-GCN: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b="0" i="1"/>
                            <m:t>𝐹</m:t>
                          </m:r>
                        </m:e>
                        <m:sub>
                          <m:r>
                            <a:rPr lang="ar-AE" b="0" i="1"/>
                            <m:t>𝑥</m:t>
                          </m:r>
                        </m:sub>
                      </m:sSub>
                      <m:r>
                        <a:rPr lang="ar-AE" b="0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b="0" i="1"/>
                            <m:t>𝑓</m:t>
                          </m:r>
                        </m:e>
                        <m:sub>
                          <m:r>
                            <a:rPr lang="ar-AE" b="0" i="1"/>
                            <m:t>𝑀𝐿𝑃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AvgPool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b="0" i="1"/>
                                    <m:t>𝑓</m:t>
                                  </m:r>
                                </m:e>
                                <m:sub>
                                  <m:r>
                                    <a:rPr lang="ar-AE" b="0" i="1"/>
                                    <m:t>𝑆𝑇</m:t>
                                  </m:r>
                                  <m:r>
                                    <m:rPr>
                                      <m:nor/>
                                    </m:rPr>
                                    <a:rPr lang="ar-AE" i="1"/>
                                    <m:t>−</m:t>
                                  </m:r>
                                  <m:r>
                                    <a:rPr lang="ar-AE" b="0" i="1"/>
                                    <m:t>𝐺𝐶𝑁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b="0" i="1"/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Then pose and point features are concatenated: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b="0" i="1"/>
                            <m:t>𝐹</m:t>
                          </m:r>
                        </m:e>
                        <m:sub>
                          <m:r>
                            <a:rPr lang="ar-AE" b="0" i="1"/>
                            <m:t>𝑝𝑥</m:t>
                          </m:r>
                        </m:sub>
                      </m:sSub>
                      <m:r>
                        <a:rPr lang="ar-AE" b="0"/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/>
                                <m:t>𝐹</m:t>
                              </m:r>
                            </m:e>
                            <m:sub>
                              <m:r>
                                <a:rPr lang="ar-AE" b="0" i="1"/>
                                <m:t>𝑥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lang="ar-AE" i="1"/>
                            <m:t>  </m:t>
                          </m:r>
                          <m:r>
                            <m:rPr>
                              <m:nor/>
                            </m:rPr>
                            <a:rPr lang="en-US" i="1"/>
                            <m:t>Duplicate</m:t>
                          </m:r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b="0" i="1"/>
                                    <m:t>𝐹</m:t>
                                  </m:r>
                                </m:e>
                                <m:sub>
                                  <m:r>
                                    <a:rPr lang="ar-AE" b="0" i="1"/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b="0" i="1"/>
                                <m:t>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0071-AD94-B7DC-4274-A470181D6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5" y="1480457"/>
                <a:ext cx="5975947" cy="4696506"/>
              </a:xfrm>
              <a:blipFill>
                <a:blip r:embed="rId2"/>
                <a:stretch>
                  <a:fillRect l="-1835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774582-2D18-EBFB-0A30-CC4567AEF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" t="1336" r="49845" b="1040"/>
          <a:stretch>
            <a:fillRect/>
          </a:stretch>
        </p:blipFill>
        <p:spPr>
          <a:xfrm>
            <a:off x="6536609" y="1480457"/>
            <a:ext cx="5202546" cy="40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5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0F17-4575-636D-F722-73237564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Pose Regressor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8AF5D-8000-79ED-F3E2-3BC94D2C24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5" y="1480457"/>
                <a:ext cx="6573106" cy="469650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Instead of directly predicting pose, the model denoises a corrupted pose sample through diffusion model.</a:t>
                </a:r>
              </a:p>
              <a:p>
                <a:pPr lvl="1"/>
                <a:r>
                  <a:rPr lang="en-US" dirty="0"/>
                  <a:t>First predict joint positions</a:t>
                </a:r>
              </a:p>
              <a:p>
                <a:pPr lvl="1"/>
                <a:r>
                  <a:rPr lang="en-US" dirty="0"/>
                  <a:t>Then predict joint rotations conditioned on positions</a:t>
                </a:r>
              </a:p>
              <a:p>
                <a:r>
                  <a:rPr lang="en-US" dirty="0"/>
                  <a:t>Target pose: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ar-AE" b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  <a:p>
                <a:r>
                  <a:rPr lang="en-US" dirty="0"/>
                  <a:t>The network predicts them via factorized branches: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p>
                      </m:sSubSup>
                      <m:r>
                        <a:rPr lang="ar-AE" b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𝐷𝑒𝑛𝑜𝑖𝑠𝑒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i="1"/>
                                  </m:ctrlPr>
                                </m:acc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mtClean="0"/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p>
                      </m:sSubSup>
                      <m:r>
                        <a:rPr lang="ar-AE" b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𝐷𝑒𝑛𝑜𝑖𝑠𝑒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b>
                      </m:sSub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i="1"/>
                                  </m:ctrlPr>
                                </m:acc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p>
                          </m:sSubSup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denoising iteration index</a:t>
                </a:r>
              </a:p>
              <a:p>
                <a:pPr lvl="1"/>
                <a:r>
                  <a:rPr lang="en-US" dirty="0"/>
                  <a:t>J is joint index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8AF5D-8000-79ED-F3E2-3BC94D2C24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5" y="1480457"/>
                <a:ext cx="6573106" cy="4696506"/>
              </a:xfrm>
              <a:blipFill>
                <a:blip r:embed="rId2"/>
                <a:stretch>
                  <a:fillRect l="-1205" t="-2987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856F503-0E04-F58B-3FE3-1EF42D8468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01" t="1336" r="-9" b="1040"/>
          <a:stretch>
            <a:fillRect/>
          </a:stretch>
        </p:blipFill>
        <p:spPr>
          <a:xfrm>
            <a:off x="6641430" y="1480457"/>
            <a:ext cx="5322771" cy="40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8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F756-1B66-7012-AD1B-39E434C2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663A-FC9B-E399-7067-43C05022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Noise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D4E9DD-0002-8EA6-EF5C-424155F5A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5" y="1480457"/>
                <a:ext cx="6203645" cy="469650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Ground-truth poses are perturbed using a diffusion process.</a:t>
                </a:r>
              </a:p>
              <a:p>
                <a:r>
                  <a:rPr lang="en-US" dirty="0"/>
                  <a:t>Forward diffusion (DM):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/>
                            </m:ctrlPr>
                          </m:acc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lim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𝑔𝑡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lim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  <m:r>
                      <a:rPr lang="ar-AE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/>
                            </m:ctrlPr>
                          </m:acc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lim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𝑔𝑡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lim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  <m:r>
                      <a:rPr lang="ar-AE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diffusion step.</a:t>
                </a:r>
              </a:p>
              <a:p>
                <a:r>
                  <a:rPr lang="en-US" dirty="0"/>
                  <a:t>Forward diffusion (OT-CFM):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𝜎𝜖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/>
                            </m:ctrlPr>
                          </m:accPr>
                          <m:e>
                            <m:r>
                              <a:rPr lang="ar-AE" i="1"/>
                              <m:t>𝑅</m:t>
                            </m:r>
                          </m:e>
                        </m:acc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r>
                              <a:rPr lang="ar-AE" i="1"/>
                              <m:t>𝑖</m:t>
                            </m:r>
                          </m:num>
                          <m:den>
                            <m:r>
                              <a:rPr lang="ar-AE" i="1"/>
                              <m:t>𝐼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 i="1"/>
                          <m:t>𝐼</m:t>
                        </m:r>
                      </m:sub>
                      <m:sup>
                        <m:r>
                          <a:rPr lang="ar-AE" i="1"/>
                          <m:t>𝑟</m:t>
                        </m:r>
                      </m:sup>
                    </m:sSubSup>
                    <m:r>
                      <a:rPr lang="ar-AE"/>
                      <m:t>+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f>
                          <m:fPr>
                            <m:ctrlPr>
                              <a:rPr lang="ar-AE" i="1"/>
                            </m:ctrlPr>
                          </m:fPr>
                          <m:num>
                            <m:r>
                              <a:rPr lang="ar-AE" i="1"/>
                              <m:t>𝑖</m:t>
                            </m:r>
                          </m:num>
                          <m:den>
                            <m:r>
                              <a:rPr lang="ar-AE" i="1"/>
                              <m:t>𝐼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𝑍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 i="1"/>
                          <m:t>𝑟</m:t>
                        </m:r>
                      </m:sup>
                    </m:sSubSup>
                    <m:r>
                      <a:rPr lang="ar-AE"/>
                      <m:t>+</m:t>
                    </m:r>
                    <m:r>
                      <a:rPr lang="ar-AE" i="1"/>
                      <m:t>𝜎𝜖</m:t>
                    </m:r>
                  </m:oMath>
                </a14:m>
                <a:endParaRPr lang="ar-AE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D4E9DD-0002-8EA6-EF5C-424155F5A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5" y="1480457"/>
                <a:ext cx="6203645" cy="4696506"/>
              </a:xfrm>
              <a:blipFill>
                <a:blip r:embed="rId2"/>
                <a:stretch>
                  <a:fillRect l="-147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9B47119-1F89-6931-FE4B-7AEF40CC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01" t="1336" r="-9" b="1040"/>
          <a:stretch>
            <a:fillRect/>
          </a:stretch>
        </p:blipFill>
        <p:spPr>
          <a:xfrm>
            <a:off x="6656490" y="1480457"/>
            <a:ext cx="5322771" cy="40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9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EFAC-ACA6-5936-5AAF-7A618F6F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8649-9613-E3D9-1FBD-14252039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7657D-28E8-61AB-F8A5-7A1C5C3A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45" y="1480457"/>
                <a:ext cx="6573106" cy="469650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Multi-head cross-attention (top):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/>
                          </m:ctrlPr>
                        </m:sSubSupPr>
                        <m:e>
                          <m:r>
                            <a:rPr lang="ar-AE" i="1"/>
                            <m:t>𝐽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  <m:sup>
                          <m:r>
                            <a:rPr lang="ar-AE" i="1"/>
                            <m:t>𝑝𝑟𝑒𝑑</m:t>
                          </m:r>
                        </m:sup>
                      </m:sSubSup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Attn</m:t>
                          </m:r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𝑄</m:t>
                                  </m:r>
                                </m:e>
                                <m:sub>
                                  <m:r>
                                    <a:rPr lang="ar-AE" i="1"/>
                                    <m:t>𝐽𝑖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𝐾</m:t>
                                  </m:r>
                                </m:e>
                                <m:sub>
                                  <m:r>
                                    <a:rPr lang="ar-AE" i="1"/>
                                    <m:t>𝐽𝑖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𝑉</m:t>
                                  </m:r>
                                </m:e>
                                <m:sub>
                                  <m:r>
                                    <a:rPr lang="ar-AE" i="1"/>
                                    <m:t>𝐽𝑖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mtClean="0"/>
                        </m:ctrlPr>
                      </m:sSubPr>
                      <m:e>
                        <m:r>
                          <a:rPr lang="ar-AE" i="1"/>
                          <m:t>𝑄</m:t>
                        </m:r>
                      </m:e>
                      <m:sub>
                        <m:r>
                          <a:rPr lang="ar-AE" i="1"/>
                          <m:t>𝐽𝑖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𝑄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/>
                                    </m:ctrlPr>
                                  </m:accPr>
                                  <m:e>
                                    <m:r>
                                      <a:rPr lang="ar-AE" i="1"/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/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𝑒</m:t>
                                </m:r>
                              </m:e>
                              <m:sub>
                                <m:r>
                                  <a:rPr lang="ar-AE" i="1"/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𝑒</m:t>
                                </m:r>
                              </m:e>
                              <m:sub>
                                <m:r>
                                  <a:rPr lang="ar-AE" i="1"/>
                                  <m:t>𝐽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(noisy pose)</a:t>
                </a:r>
                <a:endParaRPr lang="ar-A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𝐾</m:t>
                        </m:r>
                      </m:e>
                      <m:sub>
                        <m:r>
                          <a:rPr lang="ar-AE" i="1"/>
                          <m:t>𝐽𝑖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𝑉</m:t>
                        </m:r>
                      </m:e>
                      <m:sub>
                        <m:r>
                          <a:rPr lang="ar-AE" i="1"/>
                          <m:t>𝐽𝑖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𝐾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𝐹</m:t>
                            </m:r>
                          </m:e>
                          <m:sub>
                            <m:r>
                              <a:rPr lang="ar-AE" i="1"/>
                              <m:t>𝑝𝑥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sz="2400" dirty="0">
                    <a:latin typeface="Calibri (Body)"/>
                  </a:rPr>
                  <a:t>(𝑝𝑜𝑠𝑒−𝑝𝑜𝑖𝑛𝑡 𝑓𝑒𝑎𝑡𝑢𝑟𝑒)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Multi-head cross-attention (bottom):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Attn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(noisy pose)</a:t>
                </a:r>
                <a:endParaRPr lang="ar-A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sz="2400" dirty="0">
                    <a:latin typeface="Calibri (Body)"/>
                  </a:rPr>
                  <a:t>(𝑝𝑜𝑠𝑒−𝑝𝑜𝑖𝑛𝑡 𝑓𝑒𝑎𝑡𝑢𝑟𝑒 + joint condition)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7657D-28E8-61AB-F8A5-7A1C5C3A8C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45" y="1480457"/>
                <a:ext cx="6573106" cy="4696506"/>
              </a:xfrm>
              <a:blipFill>
                <a:blip r:embed="rId2"/>
                <a:stretch>
                  <a:fillRect l="-1668" t="-2987" b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DBEED8B-AC96-9581-B4D0-3A3674257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01" t="1336" r="-9" b="1040"/>
          <a:stretch>
            <a:fillRect/>
          </a:stretch>
        </p:blipFill>
        <p:spPr>
          <a:xfrm>
            <a:off x="6520132" y="762000"/>
            <a:ext cx="5322771" cy="4040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FC2E2C-3381-A67B-9777-BC57640F9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502" y="5054406"/>
            <a:ext cx="3531190" cy="5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5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EA06-42B0-96EE-B765-2F143E7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C124-1524-A3AB-55F6-34A9DBC1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97" y="17398"/>
            <a:ext cx="11321143" cy="984703"/>
          </a:xfrm>
        </p:spPr>
        <p:txBody>
          <a:bodyPr/>
          <a:lstStyle/>
          <a:p>
            <a:r>
              <a:rPr lang="en-US" dirty="0"/>
              <a:t>Diffusion Noise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3A26E-E008-66EF-F63E-521EB737F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5109" y="1101012"/>
                <a:ext cx="5654351" cy="497331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Inference:</a:t>
                </a:r>
              </a:p>
              <a:p>
                <a:pPr lvl="1"/>
                <a:r>
                  <a:rPr lang="en-US" dirty="0"/>
                  <a:t>Repeat for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  <m:r>
                      <a:rPr lang="en-US"/>
                      <m:t>=</m:t>
                    </m:r>
                    <m:r>
                      <a:rPr lang="en-US" i="1"/>
                      <m:t>𝐼</m:t>
                    </m:r>
                    <m:r>
                      <a:rPr lang="en-US"/>
                      <m:t>,</m:t>
                    </m:r>
                    <m:r>
                      <a:rPr lang="en-US" i="1"/>
                      <m:t>𝐼</m:t>
                    </m:r>
                    <m:r>
                      <a:rPr lang="en-US"/>
                      <m:t>−</m:t>
                    </m:r>
                    <m:r>
                      <a:rPr lang="en-US"/>
                      <m:t>1</m:t>
                    </m:r>
                    <m:r>
                      <a:rPr lang="en-US"/>
                      <m:t>,...,</m:t>
                    </m:r>
                    <m:r>
                      <a:rPr lang="en-US"/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Final pose: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/>
                          <m:t>0</m:t>
                        </m:r>
                      </m:sub>
                      <m:sup>
                        <m:r>
                          <a:rPr lang="ar-AE" i="1"/>
                          <m:t>𝑝𝑟𝑒𝑑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b="1" dirty="0"/>
                  <a:t>Joint coordinates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/>
                            </m:ctrlPr>
                          </m:accPr>
                          <m:e>
                            <m:r>
                              <a:rPr lang="ar-AE" i="1"/>
                              <m:t>𝐽</m:t>
                            </m:r>
                          </m:e>
                        </m:acc>
                      </m:e>
                      <m:sub>
                        <m:r>
                          <a:rPr lang="ar-AE" i="1"/>
                          <m:t>𝑖</m:t>
                        </m:r>
                        <m:r>
                          <a:rPr lang="ar-AE"/>
                          <m:t>−</m:t>
                        </m:r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i="1"/>
                                  <m:t>𝛼</m:t>
                                </m:r>
                              </m:e>
                              <m:lim>
                                <m:r>
                                  <a:rPr lang="ar-AE"/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</m:ra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𝐽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  <m:sup>
                        <m:r>
                          <a:rPr lang="ar-AE" i="1"/>
                          <m:t>𝑝𝑟𝑒𝑑</m:t>
                        </m:r>
                      </m:sup>
                    </m:sSubSup>
                    <m:r>
                      <a:rPr lang="ar-AE"/>
                      <m:t>+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i="1"/>
                                  <m:t>𝛼</m:t>
                                </m:r>
                              </m:e>
                              <m:lim>
                                <m:r>
                                  <a:rPr lang="ar-AE"/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1</m:t>
                            </m:r>
                          </m:sub>
                        </m:sSub>
                        <m:r>
                          <a:rPr lang="ar-AE"/>
                          <m:t>−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𝜖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  <m:sup>
                        <m:r>
                          <a:rPr lang="ar-AE" i="1"/>
                          <m:t>𝑗</m:t>
                        </m:r>
                      </m:sup>
                    </m:sSubSup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𝜎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 i="1"/>
                      <m:t>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li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ˉ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li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ˉ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lim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ˉ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lim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ˉ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lim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ˉ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li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ˉ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lim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ˉ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rad>
                  </m:oMath>
                </a14:m>
                <a:endParaRPr lang="en-US" dirty="0"/>
              </a:p>
              <a:p>
                <a:endParaRPr lang="ar-AE" dirty="0"/>
              </a:p>
              <a:p>
                <a:r>
                  <a:rPr lang="en-US" b="1" dirty="0"/>
                  <a:t>Joint rotations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/>
                            </m:ctrlPr>
                          </m:accPr>
                          <m:e>
                            <m:r>
                              <a:rPr lang="ar-AE" i="1"/>
                              <m:t>𝑅</m:t>
                            </m:r>
                          </m:e>
                        </m:acc>
                      </m:e>
                      <m:sub>
                        <m:r>
                          <a:rPr lang="ar-AE" i="1"/>
                          <m:t>𝑖</m:t>
                        </m:r>
                        <m:r>
                          <a:rPr lang="ar-AE"/>
                          <m:t>−</m:t>
                        </m:r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i="1"/>
                                  <m:t>𝛼</m:t>
                                </m:r>
                              </m:e>
                              <m:lim>
                                <m:r>
                                  <a:rPr lang="ar-AE"/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</m:rad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𝑅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  <m:sup>
                        <m:r>
                          <a:rPr lang="ar-AE" i="1"/>
                          <m:t>𝑝𝑟𝑒𝑑</m:t>
                        </m:r>
                      </m:sup>
                    </m:sSubSup>
                    <m:r>
                      <a:rPr lang="ar-AE"/>
                      <m:t>+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ar-AE" i="1"/>
                                </m:ctrlPr>
                              </m:limUppPr>
                              <m:e>
                                <m:r>
                                  <a:rPr lang="ar-AE" i="1"/>
                                  <m:t>𝛼</m:t>
                                </m:r>
                              </m:e>
                              <m:lim>
                                <m:r>
                                  <a:rPr lang="ar-AE"/>
                                  <m:t>ˉ</m:t>
                                </m:r>
                              </m:lim>
                            </m:limUpp>
                          </m:e>
                          <m:sub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1</m:t>
                            </m:r>
                          </m:sub>
                        </m:sSub>
                        <m:r>
                          <a:rPr lang="ar-AE"/>
                          <m:t>−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  <m:sup>
                            <m:r>
                              <a:rPr lang="ar-AE"/>
                              <m:t>2</m:t>
                            </m:r>
                          </m:sup>
                        </m:sSubSup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/>
                        </m:ctrlPr>
                      </m:sSubSupPr>
                      <m:e>
                        <m:r>
                          <a:rPr lang="ar-AE" i="1"/>
                          <m:t>𝜖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  <m:sup>
                        <m:r>
                          <a:rPr lang="ar-AE" i="1"/>
                          <m:t>𝑟</m:t>
                        </m:r>
                      </m:sup>
                    </m:sSubSup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𝜎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 i="1"/>
                      <m:t>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r>
                          <a:rPr lang="ar-AE" i="1"/>
                          <m:t>𝜖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  <m:sup>
                        <m:r>
                          <a:rPr lang="ar-AE" i="1"/>
                          <m:t>𝑟</m:t>
                        </m:r>
                      </m:sup>
                    </m:sSubSup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/>
                                </m:ctrlPr>
                              </m:accPr>
                              <m:e>
                                <m:r>
                                  <a:rPr lang="ar-AE" i="1"/>
                                  <m:t>𝑅</m:t>
                                </m:r>
                              </m:e>
                            </m:acc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r>
                          <a:rPr lang="ar-AE"/>
                          <m:t>−</m:t>
                        </m:r>
                        <m:rad>
                          <m:radPr>
                            <m:degHide m:val="on"/>
                            <m:ctrlPr>
                              <a:rPr lang="ar-AE" i="1"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ar-AE" i="1"/>
                                    </m:ctrlPr>
                                  </m:limUppPr>
                                  <m:e>
                                    <m:r>
                                      <a:rPr lang="ar-AE" i="1"/>
                                      <m:t>𝛼</m:t>
                                    </m:r>
                                  </m:e>
                                  <m:lim>
                                    <m:r>
                                      <a:rPr lang="ar-AE"/>
                                      <m:t>ˉ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ar-AE" i="1"/>
                                  <m:t>𝑖</m:t>
                                </m:r>
                              </m:sub>
                            </m:sSub>
                          </m:e>
                        </m:rad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𝑅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  <m:sup>
                            <m:r>
                              <a:rPr lang="ar-AE" i="1"/>
                              <m:t>𝑝𝑟𝑒𝑑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ar-AE" i="1"/>
                            </m:ctrlPr>
                          </m:radPr>
                          <m:deg/>
                          <m:e>
                            <m:r>
                              <a:rPr lang="ar-AE"/>
                              <m:t>1</m:t>
                            </m:r>
                            <m:r>
                              <a:rPr lang="ar-AE"/>
                              <m:t>−</m:t>
                            </m:r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ar-AE" i="1"/>
                                    </m:ctrlPr>
                                  </m:limUppPr>
                                  <m:e>
                                    <m:r>
                                      <a:rPr lang="ar-AE" i="1"/>
                                      <m:t>𝛼</m:t>
                                    </m:r>
                                  </m:e>
                                  <m:lim>
                                    <m:r>
                                      <a:rPr lang="ar-AE"/>
                                      <m:t>ˉ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ar-AE" i="1"/>
                                  <m:t>𝑖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3A26E-E008-66EF-F63E-521EB737F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5109" y="1101012"/>
                <a:ext cx="5654351" cy="4973314"/>
              </a:xfrm>
              <a:blipFill>
                <a:blip r:embed="rId2"/>
                <a:stretch>
                  <a:fillRect l="-431" t="-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C47F914-567D-27BA-9BFC-59235486D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01" t="1336" r="-9" b="1040"/>
          <a:stretch>
            <a:fillRect/>
          </a:stretch>
        </p:blipFill>
        <p:spPr>
          <a:xfrm>
            <a:off x="6520132" y="762000"/>
            <a:ext cx="5322771" cy="4040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8DDF4D-4EE2-7A58-E106-6D42C0249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502" y="5054406"/>
            <a:ext cx="3531190" cy="5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72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6679-AC5D-42C0-5F05-6A203CE1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39" y="0"/>
            <a:ext cx="11321143" cy="984703"/>
          </a:xfrm>
        </p:spPr>
        <p:txBody>
          <a:bodyPr/>
          <a:lstStyle/>
          <a:p>
            <a:r>
              <a:rPr lang="en-US" dirty="0"/>
              <a:t>Quantitative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D77260-9AE6-6DD0-4D4E-B0CF36BDB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6540" y="962377"/>
            <a:ext cx="4582164" cy="1609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979A1-77B4-5327-2033-1B897D0C2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" y="3261593"/>
            <a:ext cx="4601217" cy="2048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5975DD-03F3-3510-7F6A-33F23ED5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024" y="614982"/>
            <a:ext cx="4544059" cy="1733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B7578E-51DA-35F7-EDFD-5595EC721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836" y="3429000"/>
            <a:ext cx="4591691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99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C84B4-0EE8-7341-FA56-BFFB3A65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DF99-9C7E-2DF6-1A58-B8EF730D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39" y="0"/>
            <a:ext cx="11321143" cy="984703"/>
          </a:xfrm>
        </p:spPr>
        <p:txBody>
          <a:bodyPr/>
          <a:lstStyle/>
          <a:p>
            <a:r>
              <a:rPr lang="en-US" dirty="0"/>
              <a:t>Quantitative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006EE-A832-9EE6-3202-3722DF87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0" y="3429000"/>
            <a:ext cx="4572638" cy="2057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57DB9A-B494-BA85-E8ED-95CC57E66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40" y="1211350"/>
            <a:ext cx="4572638" cy="19910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8A4A4A-2F5A-4E32-9C68-A6BCD2DB7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1350"/>
            <a:ext cx="468695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6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F061-7B29-9485-E4B3-63AF2ABE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6638-22A7-B39F-9DF1-F5704B0A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39" y="0"/>
            <a:ext cx="11321143" cy="984703"/>
          </a:xfrm>
        </p:spPr>
        <p:txBody>
          <a:bodyPr/>
          <a:lstStyle/>
          <a:p>
            <a:r>
              <a:rPr lang="en-US" dirty="0"/>
              <a:t>Qualitative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12A02-BB56-0BCF-E4CB-DE21008F4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990259"/>
            <a:ext cx="7563906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42C2-58D0-E3FA-8600-F0B04523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D3BE7-5FC1-EDB1-CC1F-976F0690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45" y="1679511"/>
            <a:ext cx="5257176" cy="3171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B852C-9A5A-411C-894D-FB7FF76A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11" y="1816206"/>
            <a:ext cx="5786968" cy="303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31149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1239</TotalTime>
  <Words>634</Words>
  <Application>Microsoft Office PowerPoint</Application>
  <PresentationFormat>Widescreen</PresentationFormat>
  <Paragraphs>104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Calibri Light</vt:lpstr>
      <vt:lpstr>Cambria Math</vt:lpstr>
      <vt:lpstr>covis</vt:lpstr>
      <vt:lpstr>Point2Pose: A Generative Framework for 3D Human Pose Estimation with Multi-View Point Cloud Dataset</vt:lpstr>
      <vt:lpstr>Challenges</vt:lpstr>
      <vt:lpstr>Proposal</vt:lpstr>
      <vt:lpstr>Inputs</vt:lpstr>
      <vt:lpstr>Spatio-Temporal Point Cloud Encoder</vt:lpstr>
      <vt:lpstr>Spatio-Temporal Point Cloud Encoder</vt:lpstr>
      <vt:lpstr>Pose-Point Feature Fusion</vt:lpstr>
      <vt:lpstr>Generative Pose Regressor</vt:lpstr>
      <vt:lpstr>Diffusion Noise Model</vt:lpstr>
      <vt:lpstr>Cross-Attention</vt:lpstr>
      <vt:lpstr>Diffusion Noise Model</vt:lpstr>
      <vt:lpstr>Quantitative Results</vt:lpstr>
      <vt:lpstr>Quantitative Results</vt:lpstr>
      <vt:lpstr>Qualitative Results</vt:lpstr>
      <vt:lpstr>Ablations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Pham, Yen</cp:lastModifiedBy>
  <cp:revision>25</cp:revision>
  <dcterms:created xsi:type="dcterms:W3CDTF">2022-07-19T22:32:27Z</dcterms:created>
  <dcterms:modified xsi:type="dcterms:W3CDTF">2026-03-13T19:08:56Z</dcterms:modified>
</cp:coreProperties>
</file>