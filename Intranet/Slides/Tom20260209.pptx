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379" r:id="rId2"/>
    <p:sldId id="432" r:id="rId3"/>
    <p:sldId id="433" r:id="rId4"/>
    <p:sldId id="434" r:id="rId5"/>
    <p:sldId id="462" r:id="rId6"/>
    <p:sldId id="435" r:id="rId7"/>
    <p:sldId id="463" r:id="rId8"/>
    <p:sldId id="440" r:id="rId9"/>
    <p:sldId id="439" r:id="rId10"/>
    <p:sldId id="442" r:id="rId11"/>
    <p:sldId id="443" r:id="rId12"/>
    <p:sldId id="459" r:id="rId13"/>
    <p:sldId id="444" r:id="rId14"/>
    <p:sldId id="448" r:id="rId15"/>
    <p:sldId id="449" r:id="rId16"/>
    <p:sldId id="450" r:id="rId17"/>
    <p:sldId id="451" r:id="rId18"/>
    <p:sldId id="460" r:id="rId19"/>
    <p:sldId id="458" r:id="rId20"/>
    <p:sldId id="461" r:id="rId21"/>
    <p:sldId id="4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AA0B24-8CC6-DF2B-4503-95AB6BD181BE}" v="477" dt="2026-02-08T02:13:51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43" autoAdjust="0"/>
    <p:restoredTop sz="93004" autoAdjust="0"/>
  </p:normalViewPr>
  <p:slideViewPr>
    <p:cSldViewPr snapToGrid="0">
      <p:cViewPr varScale="1">
        <p:scale>
          <a:sx n="135" d="100"/>
          <a:sy n="135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2/7/2026 6:07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3-031-20074-8_36" TargetMode="External"/><Relationship Id="rId2" Type="http://schemas.openxmlformats.org/officeDocument/2006/relationships/hyperlink" Target="https://doi.org/10.24963/ijcai.2022/11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006732"/>
          </a:xfrm>
        </p:spPr>
        <p:txBody>
          <a:bodyPr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From </a:t>
            </a:r>
            <a:r>
              <a:rPr lang="en-US" b="0" dirty="0" err="1">
                <a:ea typeface="+mj-lt"/>
                <a:cs typeface="+mj-lt"/>
              </a:rPr>
              <a:t>AutoAlign</a:t>
            </a:r>
            <a:r>
              <a:rPr lang="en-US" b="0" dirty="0">
                <a:ea typeface="+mj-lt"/>
                <a:cs typeface="+mj-lt"/>
              </a:rPr>
              <a:t> → AutoAlignV2</a:t>
            </a:r>
            <a:endParaRPr lang="en-US" dirty="0"/>
          </a:p>
          <a:p>
            <a:r>
              <a:rPr lang="en-US" b="0" dirty="0">
                <a:ea typeface="+mj-lt"/>
                <a:cs typeface="+mj-lt"/>
              </a:rPr>
              <a:t>Evolution of Explicit Cross-Modal Alignment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3728907"/>
            <a:ext cx="9144000" cy="25041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4500" dirty="0"/>
              <a:t>Thomas </a:t>
            </a:r>
            <a:r>
              <a:rPr lang="en-US" sz="4500" dirty="0" err="1"/>
              <a:t>Trebat</a:t>
            </a:r>
            <a:endParaRPr lang="en-US" sz="4500" dirty="0" err="1"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4400" dirty="0"/>
          </a:p>
          <a:p>
            <a:pPr algn="l">
              <a:spcBef>
                <a:spcPts val="0"/>
              </a:spcBef>
              <a:tabLst>
                <a:tab pos="2055813" algn="l"/>
                <a:tab pos="4060825" algn="l"/>
              </a:tabLst>
            </a:pPr>
            <a:endParaRPr lang="en-US" dirty="0">
              <a:ea typeface="Calibri"/>
              <a:cs typeface="Calibri Light"/>
            </a:endParaRPr>
          </a:p>
          <a:p>
            <a:pPr>
              <a:spcBef>
                <a:spcPts val="0"/>
              </a:spcBef>
            </a:pPr>
            <a:r>
              <a:rPr lang="en-US" sz="2300" dirty="0"/>
              <a:t>Department of Computer Science and Engineering</a:t>
            </a:r>
          </a:p>
          <a:p>
            <a:pPr>
              <a:spcBef>
                <a:spcPts val="0"/>
              </a:spcBef>
            </a:pPr>
            <a:r>
              <a:rPr lang="en-US" sz="2300" dirty="0"/>
              <a:t>University of North Texas</a:t>
            </a:r>
          </a:p>
          <a:p>
            <a:pPr>
              <a:spcBef>
                <a:spcPts val="600"/>
              </a:spcBef>
            </a:pPr>
            <a:r>
              <a:rPr lang="en-US" sz="2100" dirty="0"/>
              <a:t>February 9, 2026</a:t>
            </a:r>
            <a:endParaRPr lang="en-US" sz="2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0781-B20A-7CC0-C724-79A80350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Why Cross-Modal Alignment Matters in 3D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0234-F2D0-8E1E-D8D5-0C7441A93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Heterogeneous sensors encode </a:t>
            </a:r>
            <a:r>
              <a:rPr lang="en-US" i="1" dirty="0">
                <a:ea typeface="+mn-lt"/>
                <a:cs typeface="+mn-lt"/>
              </a:rPr>
              <a:t>complementary but misaligned </a:t>
            </a:r>
            <a:r>
              <a:rPr lang="en-US" dirty="0">
                <a:ea typeface="+mn-lt"/>
                <a:cs typeface="+mn-lt"/>
              </a:rPr>
              <a:t>information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Misalignment creates systematic errors, not just noise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Naïve fusion blurs modality strengths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Alignment improves </a:t>
            </a:r>
            <a:r>
              <a:rPr lang="en-US" b="1" dirty="0">
                <a:ea typeface="+mn-lt"/>
                <a:cs typeface="+mn-lt"/>
              </a:rPr>
              <a:t>robustness, efficiency, and interpretability</a:t>
            </a:r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73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D29-05C4-3218-AE2B-ED358BE4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Pixel-Level vs. Instance-Level Fusion: Trade-offs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FFE54-BA9D-B783-F502-BF8BEA3D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Pixel-level fusion</a:t>
            </a:r>
            <a:r>
              <a:rPr lang="en-US" dirty="0">
                <a:ea typeface="+mn-lt"/>
                <a:cs typeface="+mn-lt"/>
              </a:rPr>
              <a:t>: dense, global feature aggregation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Instance-level fusion</a:t>
            </a:r>
            <a:r>
              <a:rPr lang="en-US" dirty="0">
                <a:ea typeface="+mn-lt"/>
                <a:cs typeface="+mn-lt"/>
              </a:rPr>
              <a:t>: localized, object-centric correspondence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Different assumptions about </a:t>
            </a:r>
            <a:r>
              <a:rPr lang="en-US" i="1" dirty="0">
                <a:ea typeface="+mn-lt"/>
                <a:cs typeface="+mn-lt"/>
              </a:rPr>
              <a:t>where</a:t>
            </a:r>
            <a:r>
              <a:rPr lang="en-US" dirty="0">
                <a:ea typeface="+mn-lt"/>
                <a:cs typeface="+mn-lt"/>
              </a:rPr>
              <a:t> alignment matters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Trade-off between coverage, precision, and supervision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8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F5E7-2056-ADAF-F150-70B68125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Limitations of Implicit Cross-Modal Alignment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F720C-EA15-798F-631A-1F833DDFB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Implicit alignment relies on shared feature learning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No explicit spatial correspondence between modalities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Sensitive to viewpoint and projection mismatch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Inefficient and noisy feature aggregation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149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B81D3-279E-94D8-2890-E9CAD537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AutoAlign</a:t>
            </a:r>
            <a:r>
              <a:rPr lang="en-US" b="0" dirty="0">
                <a:ea typeface="+mj-lt"/>
                <a:cs typeface="+mj-lt"/>
              </a:rPr>
              <a:t> — Architecture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F9339-E1C5-E2BF-A6F9-20CBB0FC0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Multi-modal fusion</a:t>
            </a:r>
            <a:r>
              <a:rPr lang="en-US" dirty="0">
                <a:ea typeface="+mn-lt"/>
                <a:cs typeface="+mn-lt"/>
              </a:rPr>
              <a:t>: pixel- and instance-level alignment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Cross-Attention Feature Alignment (CAFA)</a:t>
            </a:r>
            <a:r>
              <a:rPr lang="en-US" dirty="0">
                <a:ea typeface="+mn-lt"/>
                <a:cs typeface="+mn-lt"/>
              </a:rPr>
              <a:t>: voxel/pillar attends to fine-grained image features</a:t>
            </a:r>
          </a:p>
          <a:p>
            <a:r>
              <a:rPr lang="en-US" b="1" dirty="0">
                <a:ea typeface="+mn-lt"/>
                <a:cs typeface="+mn-lt"/>
              </a:rPr>
              <a:t>Self-supervised Cross-modal Feature Interaction (SCFI)</a:t>
            </a:r>
            <a:r>
              <a:rPr lang="en-US" dirty="0">
                <a:ea typeface="+mn-lt"/>
                <a:cs typeface="+mn-lt"/>
              </a:rPr>
              <a:t>: enforces instance-level semantic consistency</a:t>
            </a:r>
          </a:p>
          <a:p>
            <a:r>
              <a:rPr lang="en-US" b="1" dirty="0">
                <a:ea typeface="+mn-lt"/>
                <a:cs typeface="+mn-lt"/>
              </a:rPr>
              <a:t>2D–3D joint training</a:t>
            </a:r>
            <a:r>
              <a:rPr lang="en-US" dirty="0">
                <a:ea typeface="+mn-lt"/>
                <a:cs typeface="+mn-lt"/>
              </a:rPr>
              <a:t>: stabilizes image branch and fusion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443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03D1-C2EF-9F79-7B94-B3A881E5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 dirty="0" err="1"/>
              <a:t>AutoAlign</a:t>
            </a:r>
            <a:r>
              <a:rPr lang="en-US" b="0" dirty="0"/>
              <a:t> Architecture Diagram</a:t>
            </a:r>
            <a:endParaRPr lang="en-US" dirty="0"/>
          </a:p>
        </p:txBody>
      </p:sp>
      <p:pic>
        <p:nvPicPr>
          <p:cNvPr id="4" name="Picture 3" descr="A diagram of a model of a road&#10;&#10;AI-generated content may be incorrect.">
            <a:extLst>
              <a:ext uri="{FF2B5EF4-FFF2-40B4-BE49-F238E27FC236}">
                <a16:creationId xmlns:a16="http://schemas.microsoft.com/office/drawing/2014/main" id="{F9A80F4C-EFEA-C676-A8B5-D2AD3474A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5" y="1606935"/>
            <a:ext cx="11321143" cy="44435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387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1532-BFEE-F4C1-8FAE-3B76C8DF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sz="3700" b="0"/>
              <a:t>Self-Supervised Cross-Modal Feature Interaction (SCFI)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B263-70F9-566F-6701-962B2D4DB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Encourages semantic consistency</a:t>
            </a:r>
            <a:r>
              <a:rPr lang="en-US" dirty="0"/>
              <a:t>: NCS loss between paired 2D–3D regional features</a:t>
            </a:r>
          </a:p>
          <a:p>
            <a:r>
              <a:rPr lang="en-US" b="1" dirty="0"/>
              <a:t>Siamese-style design</a:t>
            </a:r>
            <a:r>
              <a:rPr lang="en-US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Projection layer </a:t>
            </a:r>
            <a:r>
              <a:rPr lang="en-US" sz="2800" b="1" dirty="0"/>
              <a:t>h</a:t>
            </a:r>
            <a:r>
              <a:rPr lang="en-US" sz="2800" dirty="0"/>
              <a:t> maps features into shared space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Prediction layer </a:t>
            </a:r>
            <a:r>
              <a:rPr lang="en-US" sz="2800" b="1"/>
              <a:t>f</a:t>
            </a:r>
            <a:r>
              <a:rPr lang="en-US" sz="2800"/>
              <a:t> predicts features of the other modality</a:t>
            </a:r>
          </a:p>
          <a:p>
            <a:endParaRPr lang="en-US"/>
          </a:p>
        </p:txBody>
      </p:sp>
      <p:pic>
        <p:nvPicPr>
          <p:cNvPr id="4" name="Picture 3" descr="Diagram of a diagram of a projector&#10;&#10;AI-generated content may be incorrect.">
            <a:extLst>
              <a:ext uri="{FF2B5EF4-FFF2-40B4-BE49-F238E27FC236}">
                <a16:creationId xmlns:a16="http://schemas.microsoft.com/office/drawing/2014/main" id="{ED567A41-5E58-F17B-0CBA-62E73B24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185" y="1825625"/>
            <a:ext cx="4535629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604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3C81-1F6A-F9E3-6EC0-4E0D31D6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sz="4400" b="0"/>
              <a:t>Key Experimental Results — KITTI &amp; </a:t>
            </a:r>
            <a:r>
              <a:rPr lang="en-US" sz="4400" b="0" err="1"/>
              <a:t>nuScenes</a:t>
            </a:r>
            <a:endParaRPr lang="en-US" sz="4400" err="1"/>
          </a:p>
        </p:txBody>
      </p:sp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91BBCD8-8EEE-EA76-5B96-7B797D854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02" y="1417888"/>
            <a:ext cx="11321143" cy="2009501"/>
          </a:xfrm>
          <a:prstGeom prst="rect">
            <a:avLst/>
          </a:prstGeom>
          <a:noFill/>
        </p:spPr>
      </p:pic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943BA4A9-CD9B-A30F-1A9B-1C2E7B5E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26" y="3775755"/>
            <a:ext cx="5331733" cy="230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6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BF8F-3845-D075-D465-176C7786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AutoAlign</a:t>
            </a:r>
            <a:r>
              <a:rPr lang="en-US" b="0" dirty="0">
                <a:ea typeface="+mj-lt"/>
                <a:cs typeface="+mj-lt"/>
              </a:rPr>
              <a:t> — Key Strengths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7A5A-9D42-555D-453C-B73B02D6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Explicit pixel-to-voxel semantic alignment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Unified pixel-level + instance-level fusion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Plug-and-play with proposal-based 3D detectors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Strong gains on sparse-object categories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795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BE1D-D648-5B46-9A07-6DE3C3AE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AutoAlign</a:t>
            </a:r>
            <a:r>
              <a:rPr lang="en-US" b="0" dirty="0">
                <a:ea typeface="+mj-lt"/>
                <a:cs typeface="+mj-lt"/>
              </a:rPr>
              <a:t> — Limitations</a:t>
            </a:r>
            <a:r>
              <a:rPr lang="en-US" dirty="0">
                <a:ea typeface="+mj-lt"/>
                <a:cs typeface="+mj-lt"/>
              </a:rPr>
              <a:t> </a:t>
            </a:r>
            <a:endParaRPr lang="en-US" b="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311E-A8E4-80BA-7D01-63213B60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Global attention is computationally expensive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SCFI mainly learns positional matching, not rich semantics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Limited scalability to high-resolution image features</a:t>
            </a:r>
          </a:p>
          <a:p>
            <a:r>
              <a:rPr lang="en-US" dirty="0">
                <a:ea typeface="+mn-lt"/>
                <a:cs typeface="+mn-lt"/>
              </a:rPr>
              <a:t>Reliance on proposal quality and alignment accuracy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72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3759-8E60-339E-1F03-6E4E9942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AutoAlignV2 — Overall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D1B2-FD1C-7F01-B852-CE59B58D6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Replaces global CAFA with </a:t>
            </a:r>
            <a:r>
              <a:rPr lang="en-US" b="1" dirty="0">
                <a:ea typeface="+mn-lt"/>
                <a:cs typeface="+mn-lt"/>
              </a:rPr>
              <a:t>Cross-Domain </a:t>
            </a:r>
            <a:r>
              <a:rPr lang="en-US" b="1" dirty="0" err="1">
                <a:ea typeface="+mn-lt"/>
                <a:cs typeface="+mn-lt"/>
              </a:rPr>
              <a:t>DeformCAFA</a:t>
            </a:r>
            <a:endParaRPr lang="en-US" dirty="0" err="1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Removes dependence on SCFI for positional matching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Enables </a:t>
            </a:r>
            <a:r>
              <a:rPr lang="en-US" b="1" dirty="0">
                <a:ea typeface="+mn-lt"/>
                <a:cs typeface="+mn-lt"/>
              </a:rPr>
              <a:t>multi-level image feature aggregation</a:t>
            </a:r>
            <a:r>
              <a:rPr lang="en-US" dirty="0">
                <a:ea typeface="+mn-lt"/>
                <a:cs typeface="+mn-lt"/>
              </a:rPr>
              <a:t> via FPN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Introduces practical training strategies for multi-modal robustness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6918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B309-2909-FF3E-AA84-80659966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/>
              <a:t>AutoAlignV2 — Architecture Diagram</a:t>
            </a: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C6DDAD7-B6BE-5722-0F00-3ACD04AD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5" y="1819207"/>
            <a:ext cx="11321143" cy="4019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087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F095-F795-837D-B4DA-53822758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/>
              <a:t>Cross-Domain </a:t>
            </a:r>
            <a:r>
              <a:rPr lang="en-US" b="0" err="1"/>
              <a:t>DeformCAFA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85C0-FC28-B1DF-EB14-1A7DD553F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Uses </a:t>
            </a:r>
            <a:r>
              <a:rPr lang="en-US" b="1"/>
              <a:t>deformable cross-attention</a:t>
            </a:r>
            <a:r>
              <a:rPr lang="en-US"/>
              <a:t> instead of global attention</a:t>
            </a:r>
          </a:p>
          <a:p>
            <a:r>
              <a:rPr lang="en-US"/>
              <a:t>Each voxel query attends to a </a:t>
            </a:r>
            <a:r>
              <a:rPr lang="en-US" b="1"/>
              <a:t>small set of learned image sampling points</a:t>
            </a:r>
            <a:endParaRPr lang="en-US" dirty="0"/>
          </a:p>
          <a:p>
            <a:r>
              <a:rPr lang="en-US"/>
              <a:t>Reference points obtained via </a:t>
            </a:r>
            <a:r>
              <a:rPr lang="en-US" b="1"/>
              <a:t>camera projection</a:t>
            </a:r>
            <a:endParaRPr lang="en-US" dirty="0"/>
          </a:p>
          <a:p>
            <a:r>
              <a:rPr lang="en-US"/>
              <a:t>Cross-domain token generation stabilizes attention learning</a:t>
            </a:r>
            <a:endParaRPr lang="en-US" dirty="0"/>
          </a:p>
          <a:p>
            <a:endParaRPr lang="en-US"/>
          </a:p>
        </p:txBody>
      </p:sp>
      <p:pic>
        <p:nvPicPr>
          <p:cNvPr id="4" name="Picture 3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A7C8F0DF-9906-937D-889D-35E3FDA3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10797"/>
            <a:ext cx="5181600" cy="3380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349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4061-9CDC-72B9-F2E7-FF90D27F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/>
              <a:t>Depth-Aware GT-AUG (Data Augmentation)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F92D-8955-785C-CA54-C64833AC2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MixUp</a:t>
            </a:r>
            <a:r>
              <a:rPr lang="en-US" dirty="0"/>
              <a:t>-style cut-and-paste for multi-modal data</a:t>
            </a:r>
          </a:p>
          <a:p>
            <a:r>
              <a:rPr lang="en-US" dirty="0"/>
              <a:t>Maintains synchronization between image and point cloud</a:t>
            </a:r>
          </a:p>
          <a:p>
            <a:r>
              <a:rPr lang="en-US" dirty="0"/>
              <a:t>Avoids mask annotations or complex point filtering</a:t>
            </a:r>
          </a:p>
          <a:p>
            <a:r>
              <a:rPr lang="en-US" dirty="0"/>
              <a:t>Improves robustness and generalization</a:t>
            </a:r>
          </a:p>
          <a:p>
            <a:endParaRPr lang="en-US"/>
          </a:p>
        </p:txBody>
      </p:sp>
      <p:pic>
        <p:nvPicPr>
          <p:cNvPr id="4" name="Picture 3" descr="A collage of a street with cars and buildings&#10;&#10;AI-generated content may be incorrect.">
            <a:extLst>
              <a:ext uri="{FF2B5EF4-FFF2-40B4-BE49-F238E27FC236}">
                <a16:creationId xmlns:a16="http://schemas.microsoft.com/office/drawing/2014/main" id="{DEB2DA19-802E-EE28-D695-23D1E266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35" r="18500" b="-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867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2E75-D484-132D-D156-E6D38F2D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/>
              <a:t>Image-Level Dropout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4A811-2587-5153-E8E5-684DBFC44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Randomly drops aggregated image features during training</a:t>
            </a:r>
          </a:p>
          <a:p>
            <a:r>
              <a:rPr lang="en-US"/>
              <a:t>Forces the detector to rely on </a:t>
            </a:r>
            <a:r>
              <a:rPr lang="en-US" b="1"/>
              <a:t>both LiDAR and image cues</a:t>
            </a:r>
            <a:endParaRPr lang="en-US" dirty="0"/>
          </a:p>
          <a:p>
            <a:r>
              <a:rPr lang="en-US"/>
              <a:t>Improves robustness to missing or degraded image input</a:t>
            </a:r>
            <a:endParaRPr lang="en-US" dirty="0"/>
          </a:p>
          <a:p>
            <a:r>
              <a:rPr lang="en-US"/>
              <a:t>Slight performance gains with faster convergence</a:t>
            </a:r>
            <a:endParaRPr lang="en-US" dirty="0"/>
          </a:p>
          <a:p>
            <a:endParaRPr lang="en-US"/>
          </a:p>
        </p:txBody>
      </p:sp>
      <p:pic>
        <p:nvPicPr>
          <p:cNvPr id="5" name="Picture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C12D4E2E-475F-E8AD-A29F-921C7D62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13158"/>
            <a:ext cx="5181600" cy="21762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542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7DD9-C0DF-73E0-357D-4E4F3E34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/>
              <a:t>AutoAlignV2 — </a:t>
            </a:r>
            <a:r>
              <a:rPr lang="en-US" b="0" err="1"/>
              <a:t>nuScenes</a:t>
            </a:r>
            <a:r>
              <a:rPr lang="en-US" b="0"/>
              <a:t> Validation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930AE-9C0A-2783-66B9-DAD32A5E3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Backbones: CenterPoint &amp; Object DGCNN</a:t>
            </a:r>
          </a:p>
          <a:p>
            <a:r>
              <a:rPr lang="en-US" sz="2600" dirty="0"/>
              <a:t>Gains over baselines: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dirty="0"/>
              <a:t>CenterPoint:</a:t>
            </a:r>
            <a:r>
              <a:rPr lang="en-US" sz="2200" dirty="0"/>
              <a:t> +3.7 </a:t>
            </a:r>
            <a:r>
              <a:rPr lang="en-US" sz="2200" err="1"/>
              <a:t>mAP</a:t>
            </a:r>
            <a:r>
              <a:rPr lang="en-US" sz="2200" dirty="0"/>
              <a:t> / +2.4 NDS</a:t>
            </a:r>
            <a:endParaRPr lang="en-US" sz="2200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dirty="0"/>
              <a:t>Object DGCNN:</a:t>
            </a:r>
            <a:r>
              <a:rPr lang="en-US" sz="2200" dirty="0"/>
              <a:t> +4.5 </a:t>
            </a:r>
            <a:r>
              <a:rPr lang="en-US" sz="2200" dirty="0" err="1"/>
              <a:t>mAP</a:t>
            </a:r>
            <a:r>
              <a:rPr lang="en-US" sz="2200" dirty="0"/>
              <a:t> / +2.4 NDS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600" dirty="0"/>
              <a:t>Demonstrates generalization across different 3D detection frameworks</a:t>
            </a:r>
          </a:p>
          <a:p>
            <a:endParaRPr lang="en-US" sz="2600"/>
          </a:p>
        </p:txBody>
      </p:sp>
      <p:pic>
        <p:nvPicPr>
          <p:cNvPr id="4" name="Picture 3" descr="A screenshot of a test&#10;&#10;AI-generated content may be incorrect.">
            <a:extLst>
              <a:ext uri="{FF2B5EF4-FFF2-40B4-BE49-F238E27FC236}">
                <a16:creationId xmlns:a16="http://schemas.microsoft.com/office/drawing/2014/main" id="{DC2E6CF5-14EE-1D5D-83A1-D6F3F42B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100991"/>
            <a:ext cx="5181600" cy="18006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9279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F97B-9147-9BC4-9CF1-A4264171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b="0" err="1"/>
              <a:t>nuScenes</a:t>
            </a:r>
            <a:r>
              <a:rPr lang="en-US" b="0"/>
              <a:t> Test Set Leaderboard Results</a:t>
            </a:r>
            <a:endParaRPr lang="en-US" dirty="0"/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4E9F9D1A-EA39-0C66-614E-FCF6A2B55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5" y="2045629"/>
            <a:ext cx="11321143" cy="35661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027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4C85-D03F-CDFF-50DA-6776209B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AutoAlignV2 — Limitations</a:t>
            </a:r>
            <a:r>
              <a:rPr lang="en-US" dirty="0">
                <a:ea typeface="+mj-lt"/>
                <a:cs typeface="+mj-lt"/>
              </a:rPr>
              <a:t>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41C4D-772E-A3FF-AA6F-DD4F4EB9F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Dependence on accurate camera–LiDAR calibration</a:t>
            </a:r>
          </a:p>
          <a:p>
            <a:r>
              <a:rPr lang="en-US" dirty="0">
                <a:ea typeface="+mn-lt"/>
                <a:cs typeface="+mn-lt"/>
              </a:rPr>
              <a:t>Non-trivial computational overhead</a:t>
            </a:r>
          </a:p>
          <a:p>
            <a:r>
              <a:rPr lang="en-US" dirty="0">
                <a:ea typeface="+mn-lt"/>
                <a:cs typeface="+mn-lt"/>
              </a:rPr>
              <a:t>Limited semantic grounding at early fusion stages</a:t>
            </a:r>
          </a:p>
          <a:p>
            <a:r>
              <a:rPr lang="en-US" dirty="0">
                <a:ea typeface="+mn-lt"/>
                <a:cs typeface="+mn-lt"/>
              </a:rPr>
              <a:t>Increased training complexity</a:t>
            </a:r>
          </a:p>
          <a:p>
            <a:r>
              <a:rPr lang="en-US" dirty="0">
                <a:ea typeface="+mn-lt"/>
                <a:cs typeface="+mn-lt"/>
              </a:rPr>
              <a:t>Task specificity</a:t>
            </a:r>
          </a:p>
        </p:txBody>
      </p:sp>
    </p:spTree>
    <p:extLst>
      <p:ext uri="{BB962C8B-B14F-4D97-AF65-F5344CB8AC3E}">
        <p14:creationId xmlns:p14="http://schemas.microsoft.com/office/powerpoint/2010/main" val="3658728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014-9534-E7EF-4C01-11A0DF84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AutoAlignV2 — Key Strengths &amp; Takeaways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C43D-D558-1DC5-43D7-17B94724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Accurate and efficient cross-modal alignment with </a:t>
            </a:r>
            <a:r>
              <a:rPr lang="en-US" dirty="0" err="1">
                <a:ea typeface="+mn-lt"/>
                <a:cs typeface="+mn-lt"/>
              </a:rPr>
              <a:t>DeformCAFA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Removes SCFI supervision while maintaining positional consistency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Utilizes multi-level FPN features for richer image context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Robust training strategies: Depth-Aware GT-AUG + image-level dropout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Architecture-agnostic: improves multiple 3D detectors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Strong performance gains on sparse or hard-to-detect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09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51FF-24A4-11E9-19AA-249465F0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Conclusion &amp; Open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37D4-63F8-6764-A8BF-8F71D6E0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en-US" dirty="0">
                <a:ea typeface="Calibri"/>
                <a:cs typeface="Calibri"/>
              </a:rPr>
              <a:t>Efficient handling of </a:t>
            </a:r>
            <a:r>
              <a:rPr lang="en-US" b="1" dirty="0">
                <a:ea typeface="Calibri"/>
                <a:cs typeface="Calibri"/>
              </a:rPr>
              <a:t>high-resolution feature maps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Calibri"/>
                <a:cs typeface="Calibri"/>
              </a:rPr>
              <a:t>Stronger </a:t>
            </a:r>
            <a:r>
              <a:rPr lang="en-US" b="1" dirty="0">
                <a:ea typeface="Calibri"/>
                <a:cs typeface="Calibri"/>
              </a:rPr>
              <a:t>semantic grounding</a:t>
            </a:r>
            <a:r>
              <a:rPr lang="en-US" dirty="0">
                <a:ea typeface="Calibri"/>
                <a:cs typeface="Calibri"/>
              </a:rPr>
              <a:t> at early fusion stages</a:t>
            </a:r>
            <a:endParaRPr lang="en-US"/>
          </a:p>
          <a:p>
            <a:pPr>
              <a:buFont typeface="Arial"/>
            </a:pPr>
            <a:r>
              <a:rPr lang="en-US" dirty="0">
                <a:ea typeface="Calibri"/>
                <a:cs typeface="Calibri"/>
              </a:rPr>
              <a:t>Extending alignment to </a:t>
            </a:r>
            <a:r>
              <a:rPr lang="en-US" b="1" dirty="0">
                <a:ea typeface="Calibri"/>
                <a:cs typeface="Calibri"/>
              </a:rPr>
              <a:t>dense prediction tasks</a:t>
            </a:r>
            <a:r>
              <a:rPr lang="en-US" dirty="0">
                <a:ea typeface="Calibri"/>
                <a:cs typeface="Calibri"/>
              </a:rPr>
              <a:t> (segmentation, mapping)</a:t>
            </a:r>
            <a:endParaRPr lang="en-US"/>
          </a:p>
          <a:p>
            <a:pPr>
              <a:buFont typeface="Arial"/>
            </a:pPr>
            <a:r>
              <a:rPr lang="en-US" dirty="0">
                <a:ea typeface="Calibri"/>
                <a:cs typeface="Calibri"/>
              </a:rPr>
              <a:t>Robustness to </a:t>
            </a:r>
            <a:r>
              <a:rPr lang="en-US" b="1" dirty="0">
                <a:ea typeface="Calibri"/>
                <a:cs typeface="Calibri"/>
              </a:rPr>
              <a:t>sensor calibration errors, occlusion, and motion blur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dirty="0">
                <a:ea typeface="Calibri"/>
                <a:cs typeface="Calibri"/>
              </a:rPr>
              <a:t>Simplifying training pipelines and reducing hyperparameter sensitivity</a:t>
            </a: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7554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A31D-98EE-90EB-C2B0-3E55E8CB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EFD1-79EC-7EB3-74A1-CE379CA7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Chen, Z., Li, Z., Zhang, S., Fang, L., Jiang, Q., Zhao, F., Zhou, B., &amp; Zhao, H. (2022). </a:t>
            </a:r>
            <a:r>
              <a:rPr lang="en-US" err="1">
                <a:ea typeface="+mn-lt"/>
                <a:cs typeface="+mn-lt"/>
              </a:rPr>
              <a:t>AutoAlign</a:t>
            </a:r>
            <a:r>
              <a:rPr lang="en-US" dirty="0">
                <a:ea typeface="+mn-lt"/>
                <a:cs typeface="+mn-lt"/>
              </a:rPr>
              <a:t>: Pixel-Instance Feature Aggregation for Multi-Modal 3D Object Detection. In </a:t>
            </a:r>
            <a:r>
              <a:rPr lang="en-US" i="1" dirty="0">
                <a:ea typeface="+mn-lt"/>
                <a:cs typeface="+mn-lt"/>
              </a:rPr>
              <a:t>Proceedings of the Thirty-First International Joint Conference on Artificial Intelligence (IJCAI-22)</a:t>
            </a:r>
            <a:r>
              <a:rPr lang="en-US" dirty="0">
                <a:ea typeface="+mn-lt"/>
                <a:cs typeface="+mn-lt"/>
              </a:rPr>
              <a:t>, 827–833. </a:t>
            </a:r>
            <a:r>
              <a:rPr lang="en-US" dirty="0">
                <a:ea typeface="+mn-lt"/>
                <a:cs typeface="+mn-lt"/>
                <a:hlinkClick r:id="rId2"/>
              </a:rPr>
              <a:t>https://doi.org/10.24963/ijcai.2022/116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Chen, Z., Li, Z., Zhang, S., Fang, L., Jiang, Q., &amp; Zhao, F. (2022). Deformable Feature Aggregation for Dynamic Multi-modal 3D Object Detection. In </a:t>
            </a:r>
            <a:r>
              <a:rPr lang="en-US" i="1" dirty="0">
                <a:ea typeface="+mn-lt"/>
                <a:cs typeface="+mn-lt"/>
              </a:rPr>
              <a:t>Computer Vision – European Conference on Computer Vision (ECCV 2022)</a:t>
            </a:r>
            <a:r>
              <a:rPr lang="en-US" dirty="0">
                <a:ea typeface="+mn-lt"/>
                <a:cs typeface="+mn-lt"/>
              </a:rPr>
              <a:t>, Tel Aviv, Israel, 628–644. </a:t>
            </a:r>
            <a:r>
              <a:rPr lang="en-US" dirty="0">
                <a:ea typeface="+mn-lt"/>
                <a:cs typeface="+mn-lt"/>
                <a:hlinkClick r:id="rId3"/>
              </a:rPr>
              <a:t>https://doi.org/10.1007/978-3-031-20074-8_36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387979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14721</TotalTime>
  <Words>1325</Words>
  <Application>Microsoft Office PowerPoint</Application>
  <PresentationFormat>Widescreen</PresentationFormat>
  <Paragraphs>178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covis</vt:lpstr>
      <vt:lpstr>From AutoAlign → AutoAlignV2 Evolution of Explicit Cross-Modal Alignment</vt:lpstr>
      <vt:lpstr>Why Cross-Modal Alignment Matters in 3D Detection</vt:lpstr>
      <vt:lpstr>Pixel-Level vs. Instance-Level Fusion: Trade-offs</vt:lpstr>
      <vt:lpstr>Limitations of Implicit Cross-Modal Alignment</vt:lpstr>
      <vt:lpstr>AutoAlign — Architecture Overview</vt:lpstr>
      <vt:lpstr>AutoAlign Architecture Diagram</vt:lpstr>
      <vt:lpstr>Self-Supervised Cross-Modal Feature Interaction (SCFI)</vt:lpstr>
      <vt:lpstr>Key Experimental Results — KITTI &amp; nuScenes</vt:lpstr>
      <vt:lpstr>AutoAlign — Key Strengths &amp; Takeaways</vt:lpstr>
      <vt:lpstr>AutoAlign — Limitations </vt:lpstr>
      <vt:lpstr>AutoAlignV2 — Overall Framework</vt:lpstr>
      <vt:lpstr>AutoAlignV2 — Architecture Diagram</vt:lpstr>
      <vt:lpstr>Cross-Domain DeformCAFA</vt:lpstr>
      <vt:lpstr>Depth-Aware GT-AUG (Data Augmentation)</vt:lpstr>
      <vt:lpstr>Image-Level Dropout Training</vt:lpstr>
      <vt:lpstr>AutoAlignV2 — nuScenes Validation</vt:lpstr>
      <vt:lpstr>nuScenes Test Set Leaderboard Results</vt:lpstr>
      <vt:lpstr>AutoAlignV2 — Limitations </vt:lpstr>
      <vt:lpstr>AutoAlignV2 — Key Strengths &amp; Takeaways</vt:lpstr>
      <vt:lpstr>Conclusion &amp; Open Problems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Venkatasivareddy, Karthik</cp:lastModifiedBy>
  <cp:revision>256</cp:revision>
  <dcterms:created xsi:type="dcterms:W3CDTF">2022-07-19T22:32:27Z</dcterms:created>
  <dcterms:modified xsi:type="dcterms:W3CDTF">2026-02-08T02:14:24Z</dcterms:modified>
</cp:coreProperties>
</file>