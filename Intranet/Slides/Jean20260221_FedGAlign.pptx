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385" r:id="rId2"/>
    <p:sldId id="388" r:id="rId3"/>
    <p:sldId id="390" r:id="rId4"/>
    <p:sldId id="258" r:id="rId5"/>
    <p:sldId id="389" r:id="rId6"/>
    <p:sldId id="391" r:id="rId7"/>
    <p:sldId id="262" r:id="rId8"/>
    <p:sldId id="392" r:id="rId9"/>
    <p:sldId id="38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2978" autoAdjust="0"/>
  </p:normalViewPr>
  <p:slideViewPr>
    <p:cSldViewPr snapToGrid="0">
      <p:cViewPr varScale="1">
        <p:scale>
          <a:sx n="120" d="100"/>
          <a:sy n="120" d="100"/>
        </p:scale>
        <p:origin x="1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2362"/>
            <a:ext cx="6858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514850"/>
            <a:ext cx="6858000" cy="1304924"/>
          </a:xfrm>
        </p:spPr>
        <p:txBody>
          <a:bodyPr/>
          <a:lstStyle>
            <a:lvl1pPr marL="0" indent="0" algn="ctr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2/21/2026 9:57 AM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" y="365127"/>
            <a:ext cx="8490857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634" y="1480457"/>
            <a:ext cx="8490857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03C3-370B-6993-9EDC-B9238ADC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BD27EE8-3EB4-38B4-9D5A-7EF9C98A4AF1}"/>
              </a:ext>
            </a:extLst>
          </p:cNvPr>
          <p:cNvSpPr txBox="1">
            <a:spLocks/>
          </p:cNvSpPr>
          <p:nvPr/>
        </p:nvSpPr>
        <p:spPr>
          <a:xfrm>
            <a:off x="1143000" y="1122361"/>
            <a:ext cx="6858000" cy="3650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US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FedGAlign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: Implicit Gradient Alignment in Distributed and Federated Learning</a:t>
            </a:r>
            <a:b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</a:br>
            <a:br>
              <a:rPr lang="en-US" sz="20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</a:br>
            <a:r>
              <a:rPr lang="en-US" sz="27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Y. Dandi, L. Barba, and M. Jaggi, “Implicit Gradient Alignment in Distributed and Federated Learning,” AAAI, vol. 36, no. 6, pp. 6454–6462, Jun. 2022, </a:t>
            </a:r>
            <a:r>
              <a:rPr lang="en-US" sz="2700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doi</a:t>
            </a:r>
            <a:r>
              <a:rPr lang="en-US" sz="2700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: 10.1609/aaai.v36i6.20597.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75006C-D969-8D1A-5159-E42531DAE7AF}"/>
              </a:ext>
            </a:extLst>
          </p:cNvPr>
          <p:cNvSpPr txBox="1">
            <a:spLocks/>
          </p:cNvSpPr>
          <p:nvPr/>
        </p:nvSpPr>
        <p:spPr>
          <a:xfrm>
            <a:off x="1143000" y="4773336"/>
            <a:ext cx="6858000" cy="104643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Presented by Jean Pierre</a:t>
            </a:r>
          </a:p>
        </p:txBody>
      </p:sp>
    </p:spTree>
    <p:extLst>
      <p:ext uri="{BB962C8B-B14F-4D97-AF65-F5344CB8AC3E}">
        <p14:creationId xmlns:p14="http://schemas.microsoft.com/office/powerpoint/2010/main" val="38564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85F3-9489-5EE6-58BB-2FB7BFB5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4E05-C791-CF61-D06A-E42AE2FC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Misalignment and Generalization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F8339-1711-D090-725C-66ED85F9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480457"/>
            <a:ext cx="8490857" cy="4696506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000000"/>
                </a:solidFill>
              </a:rPr>
              <a:t>Gradient Misalignment: </a:t>
            </a:r>
            <a:r>
              <a:rPr lang="en-US" sz="1800" dirty="0">
                <a:solidFill>
                  <a:srgbClr val="000000"/>
                </a:solidFill>
              </a:rPr>
              <a:t>Client gradients differ because data distributions vary across devices.</a:t>
            </a:r>
          </a:p>
          <a:p>
            <a:r>
              <a:rPr lang="en-US" sz="1800" b="1" dirty="0">
                <a:solidFill>
                  <a:srgbClr val="000000"/>
                </a:solidFill>
              </a:rPr>
              <a:t>The Generalization Gap in Large-Batch Training: </a:t>
            </a:r>
            <a:r>
              <a:rPr lang="en-US" sz="1800" dirty="0">
                <a:solidFill>
                  <a:srgbClr val="000000"/>
                </a:solidFill>
              </a:rPr>
              <a:t>Large batches train faster but often generalize worse than small-batch SGD.</a:t>
            </a:r>
          </a:p>
          <a:p>
            <a:r>
              <a:rPr lang="en-US" sz="1800" b="1" dirty="0">
                <a:solidFill>
                  <a:srgbClr val="000000"/>
                </a:solidFill>
              </a:rPr>
              <a:t>Client Drift: </a:t>
            </a:r>
            <a:r>
              <a:rPr lang="en-US" sz="1800" dirty="0">
                <a:solidFill>
                  <a:srgbClr val="000000"/>
                </a:solidFill>
              </a:rPr>
              <a:t>Local client updates move away from the global objective in federated learning.</a:t>
            </a:r>
          </a:p>
        </p:txBody>
      </p:sp>
    </p:spTree>
    <p:extLst>
      <p:ext uri="{BB962C8B-B14F-4D97-AF65-F5344CB8AC3E}">
        <p14:creationId xmlns:p14="http://schemas.microsoft.com/office/powerpoint/2010/main" val="99544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D934-57D6-CE1F-9DD4-B2725C82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EFFE-B7B0-8282-17E0-0680DFAD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Generalization Gap</a:t>
            </a:r>
            <a:endParaRPr lang="en-US" dirty="0"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B84F2B-CF13-0EC1-319C-7C59D12E5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9634" y="1480457"/>
                <a:ext cx="8490857" cy="4696506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>
                    <a:solidFill>
                      <a:srgbClr val="000000"/>
                    </a:solidFill>
                  </a:rPr>
                  <a:t>The Conflict</a:t>
                </a:r>
                <a:r>
                  <a:rPr lang="en-US" sz="1800" dirty="0">
                    <a:solidFill>
                      <a:srgbClr val="000000"/>
                    </a:solidFill>
                  </a:rPr>
                  <a:t>: Large-batch training lacks the "implicit regularization" of sequential SGD, leading to poor test performance.</a:t>
                </a:r>
              </a:p>
              <a:p>
                <a:r>
                  <a:rPr lang="en-US" sz="1800" b="1" dirty="0">
                    <a:solidFill>
                      <a:srgbClr val="000000"/>
                    </a:solidFill>
                  </a:rPr>
                  <a:t>The Math</a:t>
                </a:r>
                <a:r>
                  <a:rPr lang="en-US" sz="1800" dirty="0">
                    <a:solidFill>
                      <a:srgbClr val="000000"/>
                    </a:solidFill>
                  </a:rPr>
                  <a:t>: Define the </a:t>
                </a:r>
                <a:r>
                  <a:rPr lang="en-US" sz="1800" dirty="0" err="1">
                    <a:solidFill>
                      <a:srgbClr val="000000"/>
                    </a:solidFill>
                  </a:rPr>
                  <a:t>regularizer</a:t>
                </a:r>
                <a:r>
                  <a:rPr 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</a:rPr>
                  <a:t>which measures the variance/dissimilarity of gradients across clients: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B84F2B-CF13-0EC1-319C-7C59D12E5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634" y="1480457"/>
                <a:ext cx="8490857" cy="4696506"/>
              </a:xfrm>
              <a:blipFill>
                <a:blip r:embed="rId2"/>
                <a:stretch>
                  <a:fillRect l="-503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84C95BA-8F25-4540-5096-E2D83C754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09" y="2647041"/>
            <a:ext cx="4154382" cy="87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B9CD-EB7F-C06A-3BAD-0A2328E1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u="none" strike="noStrike" dirty="0">
                <a:solidFill>
                  <a:srgbClr val="000000"/>
                </a:solidFill>
                <a:effectLst/>
              </a:rPr>
              <a:t>Client drift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EF228B-B215-9D31-0F0D-547CCB68C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480457"/>
            <a:ext cx="8490857" cy="2256656"/>
          </a:xfrm>
        </p:spPr>
        <p:txBody>
          <a:bodyPr>
            <a:normAutofit/>
          </a:bodyPr>
          <a:lstStyle/>
          <a:p>
            <a:pPr algn="l"/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Alignment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 means updates on one subset of data actually help reduce loss for data points outside that set.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519A7-C63C-949D-CCB8-7596E31A9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4" y="2608785"/>
            <a:ext cx="8185395" cy="313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4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3E4D-CE69-FB8E-FB51-9310D85A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0602-FEB6-A82C-1A15-8A73FAD7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Gradient </a:t>
            </a:r>
            <a:r>
              <a:rPr lang="en-US" sz="3600" dirty="0" err="1"/>
              <a:t>Alignement</a:t>
            </a:r>
            <a:r>
              <a:rPr lang="en-US" sz="3600" dirty="0"/>
              <a:t> (GA)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0C6F45-9EC8-BDF4-0D56-825838076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30" y="1125368"/>
            <a:ext cx="5995540" cy="41518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9AF639-9BE3-240E-4198-833C1D61C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655" y="5277209"/>
            <a:ext cx="3355866" cy="9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6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5578-0C4B-512E-72B9-D903829E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E338-FE83-189D-0AD9-2D7312F6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/>
              <a:t>FedGA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40440-0066-FF79-F327-ECB2BEC6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01" y="1271832"/>
            <a:ext cx="6459598" cy="482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0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2D6D-77CD-7C33-ED35-E709F4BA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Evidence &amp; Results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4F9633-3861-43CF-C9B1-1AC9D2E0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41" y="1349830"/>
            <a:ext cx="6343517" cy="443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5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4912-ED07-7869-B3E1-520D7191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9D22-F8EB-5147-B0E5-DB3DF97A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Evidence &amp; Results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1108D-790B-1DDB-1C72-8207DFF6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9" y="1516702"/>
            <a:ext cx="4161856" cy="2570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124265-57C2-0688-E49A-681AC4533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366" y="1519346"/>
            <a:ext cx="4238126" cy="2567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BC0A0B-5D77-E001-D303-65A33D7C6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315" y="4560849"/>
            <a:ext cx="4803370" cy="146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4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D074-3CE0-9139-A9FF-7212C3BD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A269-92D0-66D3-9B05-F56F7AD5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Y. Dandi, L. Barba, and M. Jaggi, “Implicit Gradient Alignment in Distributed and Federated Learning,” AAAI, vol. 36, no. 6, pp. 6454–6462, Jun. 2022, </a:t>
            </a:r>
            <a:r>
              <a:rPr lang="en-US" dirty="0" err="1"/>
              <a:t>doi</a:t>
            </a:r>
            <a:r>
              <a:rPr lang="en-US" dirty="0"/>
              <a:t>: 10.1609/aaai.v36i6.20597.</a:t>
            </a:r>
          </a:p>
        </p:txBody>
      </p:sp>
    </p:spTree>
    <p:extLst>
      <p:ext uri="{BB962C8B-B14F-4D97-AF65-F5344CB8AC3E}">
        <p14:creationId xmlns:p14="http://schemas.microsoft.com/office/powerpoint/2010/main" val="1003681097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1616</TotalTime>
  <Words>243</Words>
  <Application>Microsoft Office PowerPoint</Application>
  <PresentationFormat>On-screen Show (4:3)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-webkit-standard</vt:lpstr>
      <vt:lpstr>covis</vt:lpstr>
      <vt:lpstr>PowerPoint Presentation</vt:lpstr>
      <vt:lpstr>Misalignment and Generalization</vt:lpstr>
      <vt:lpstr>Generalization Gap</vt:lpstr>
      <vt:lpstr>Client drift</vt:lpstr>
      <vt:lpstr>Gradient Alignement (GA)</vt:lpstr>
      <vt:lpstr>FedGA</vt:lpstr>
      <vt:lpstr>Evidence &amp; Results</vt:lpstr>
      <vt:lpstr>Evidence &amp; Results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Oyima Antseleve, Jean Pierre</cp:lastModifiedBy>
  <cp:revision>76</cp:revision>
  <dcterms:created xsi:type="dcterms:W3CDTF">2022-07-19T22:32:27Z</dcterms:created>
  <dcterms:modified xsi:type="dcterms:W3CDTF">2026-02-21T16:33:47Z</dcterms:modified>
</cp:coreProperties>
</file>