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379" r:id="rId2"/>
    <p:sldId id="377" r:id="rId3"/>
    <p:sldId id="380" r:id="rId4"/>
    <p:sldId id="381" r:id="rId5"/>
    <p:sldId id="382" r:id="rId6"/>
    <p:sldId id="383" r:id="rId7"/>
    <p:sldId id="384" r:id="rId8"/>
    <p:sldId id="385" r:id="rId9"/>
    <p:sldId id="386" r:id="rId10"/>
    <p:sldId id="387" r:id="rId11"/>
    <p:sldId id="38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729"/>
    <a:srgbClr val="145A14"/>
    <a:srgbClr val="236423"/>
    <a:srgbClr val="29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2978" autoAdjust="0"/>
  </p:normalViewPr>
  <p:slideViewPr>
    <p:cSldViewPr snapToGrid="0">
      <p:cViewPr varScale="1">
        <p:scale>
          <a:sx n="157" d="100"/>
          <a:sy n="157" d="100"/>
        </p:scale>
        <p:origin x="30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7E834-C4A8-4B30-8234-E597CECA3FD7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4D784-8A11-4578-9B5B-21FFF947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AFF4-1FA5-4D56-9D9C-C8DDF3508A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2"/>
            <a:ext cx="9144000" cy="3144838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of the paper</a:t>
            </a:r>
            <a:br>
              <a:rPr lang="en-US" dirty="0"/>
            </a:br>
            <a:r>
              <a:rPr lang="en-US" dirty="0"/>
              <a:t>authors</a:t>
            </a:r>
            <a:br>
              <a:rPr lang="en-US" dirty="0"/>
            </a:br>
            <a:r>
              <a:rPr lang="en-US" dirty="0"/>
              <a:t>journal/conference, volume, issue, year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B35512-EAE6-213E-2789-4B7268C78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514850"/>
            <a:ext cx="9144000" cy="13049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spcBef>
                <a:spcPts val="1200"/>
              </a:spcBef>
            </a:pPr>
            <a:r>
              <a:rPr lang="en-US" sz="2800" dirty="0"/>
              <a:t>Presented by &lt;Your Name&gt;</a:t>
            </a:r>
          </a:p>
        </p:txBody>
      </p:sp>
    </p:spTree>
    <p:extLst>
      <p:ext uri="{BB962C8B-B14F-4D97-AF65-F5344CB8AC3E}">
        <p14:creationId xmlns:p14="http://schemas.microsoft.com/office/powerpoint/2010/main" val="270140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CBAF-FD17-4556-B563-9F17E08F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D2DE8-6B39-47B0-86A0-C2627A2D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BD1E4-D14B-4138-B4AC-D78B5E24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41615-E7B9-4366-9538-68B6E950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424F4-12C2-47D2-8046-AD0B98AB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1C2CFD-B6F9-24A5-223A-A6BCCAD41401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0B06F1-BF5D-3669-653C-BBC2ED18825C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2/15/2026 10:34 PM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EFEB18-E03B-55E5-9BA2-C341E7CEFE06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DF5A49C-D9FD-6997-755D-B6F13BC5A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02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E6B1-FD2B-4042-9497-7FCF9F46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81D52-664D-4745-91E9-0C3592943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833E3-135F-4743-AD4B-CF0598EE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2391-1657-4A8E-8C53-A4EF72DA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3E976-25AB-4AE2-A7BE-ED6D08F4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7650B-AE0B-4FFC-F612-D9CDA07C998F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281A08A-38F5-6E09-3069-EDA313CB4238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2/15/2026 10:34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BECCC4-D2F9-0475-0FB1-EF1A481C18F2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D1BC5C6-7516-C430-6BB8-57970560EF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60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387A-8E2E-4D68-89BC-6A761E1C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087A-B910-4C97-BE78-C1EB7078A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B1C01-0EE1-4479-8FB2-195D9916C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14B5D-B614-4B9F-96DD-CBF2E4D5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2D19C-3FF2-4BD7-85E1-CB5A94C5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066D6-0215-4AEF-A628-4B89070B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BE8935-2869-75C7-ACA8-936F88800781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7DA7235-104C-72E0-37C3-CA20C74031FC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2/15/2026 10:34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ED9B8F-B09F-6AE6-964C-24F19627C229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2BDA95C-C6CC-D81F-938B-98595F43DD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536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305D-4D2B-418A-9D97-04BD1499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19EE5-207F-4B02-9B2A-A2027E7B6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23649-4890-4861-8B7B-7800F312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31F67-B52B-4E00-889A-8FC942B29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0C1D4-A224-4CFD-9216-C4BD69948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12C2B-9259-4A2E-82EC-7B5976BE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9F431-8EEA-407B-9149-A4A02E8E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C9DBB-54A4-4E92-9CB0-E19E2E44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686A1-701F-0D34-7499-C848C2FC3846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71E40AE-9729-F84E-6750-A2D023BC4CA6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2/15/2026 10:34 PM</a:t>
            </a:fld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C775302-0926-3059-C127-F0DE28BDF3E3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7CFE4A4-E14A-CE83-06BD-93F593631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90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090F-DCC0-44AA-A483-57DFCABA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FBDF8-0F4F-45C4-9937-BD1F8732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AC3E7-3004-4863-89B6-1A44540F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835DA-C0DD-4150-B5A9-A9E6E9EF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34B97-8568-ADA6-F0AA-DF458BCECA0A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6C3D3D0-2F6E-861F-5724-3535F515D781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2/15/2026 10:34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327F07-E833-BBC3-3623-49EE1CC01B10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C478856-A0DA-7546-1313-CFCBEEAEC3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4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5D3EF-9FB6-4132-85DC-EEAD2F50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BD5C-ED15-43EA-AD5F-83326772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3C7B5-4BFE-4FA6-9DCA-9A21C2CB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36CDF-8F1A-CD77-75C5-948FB842BE8C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247C745-E936-A259-6814-2BC4C9379209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2/15/2026 10:34 PM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81689D-3C97-CA98-320F-7CAF8100EA8B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BD6CEBF-3B4E-7C6F-D83B-4336AB109B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30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17C7-A42B-45C4-87AE-64DC351D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F77E-68D1-4AD9-9368-40BF04A5F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F09A8-2453-438B-9ACE-5F216B0F0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87456-AB55-4BB3-A0DE-7A8B5F39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12BEF-F4C0-48EC-A69B-53052D35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4E064-1E51-4E86-8FDE-A378EA70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87D300-A8BF-E8A7-4A10-094313524E25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C06C84D-9DC5-4938-9115-E9982A8BC1A7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2/15/2026 10:34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B1AE60C-6738-39B6-A7E8-2B325E806B16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C62CD6B-BA98-EA50-A63B-7ABF3ECB8D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60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4336-FB41-4746-ADEA-8ACD9012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81518-B6EC-4CBC-9763-F001313C0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8BFA5-92FA-4F6F-AB1B-1057FFF4F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E83E7-BA52-4C97-B38B-29640A16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55D73-0033-4FDE-837E-FC4B7B9E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577E7-AE7F-4FD1-96FA-C681905D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487EF-10E9-20DA-FF7C-3D005EF1E1D5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C163A4-0F10-32B5-731B-B47A476BC910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2/15/2026 10:34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79B79AA-924B-EA99-5E26-02FEBB622598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A3873B3-BE6D-B997-BB6D-4BADB910C7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7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04F1-943F-4FEF-BBC8-D6C3B021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ECF8F-A044-4020-BC99-A494CA8EF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3B726-A353-4F79-88EF-F138D365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63AE0-03C3-412E-9855-22C6DA16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92924-7EEA-450D-9658-129C3E1C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C544B-A02A-D6C4-E0B0-DA7E9CAF20D9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8B2CA06-A154-7053-0952-AFCD73BB0D3B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2/15/2026 10:34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75F0140-A426-B598-128C-504028103D6D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67A920C-008D-72C0-9E06-BAB13F0D32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40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9D0F5-3347-48F5-BA20-2268AEC1E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654AB-8CFA-4439-93CA-C714665FA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FBEDC-FCA9-4522-A177-4026B734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47852-BC24-42B3-830C-FEDDDF4B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352F4-01F9-4B9E-8C2A-8741FDB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1EA99-D7B0-AB26-8C59-F166B39C191B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6B22BE-EE45-28DE-51D3-43BDDBE978D7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2/15/2026 10:34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7206CF2-9296-D14D-AAD1-C481E8A6E37F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38D72DC-57D0-AB51-3D33-065BAB779F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99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C50B4-076C-40D8-915F-F6B64959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79975-F3B1-4D35-A1DA-4D3F4A826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845" y="1480457"/>
            <a:ext cx="11321143" cy="469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71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E4C7-97B0-429C-D962-ADA6240212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CAMS-AI: A Coarse-to-Fine Framework for Efficient Small Object Detection in High-Resolution Images</a:t>
            </a:r>
            <a:br>
              <a:rPr lang="en-IN" dirty="0"/>
            </a:br>
            <a:r>
              <a:rPr lang="en-US" sz="2700" dirty="0" err="1"/>
              <a:t>Zhanqi</a:t>
            </a:r>
            <a:r>
              <a:rPr lang="en-US" sz="2700" dirty="0"/>
              <a:t> Chen, Zhao Chen, </a:t>
            </a:r>
            <a:r>
              <a:rPr lang="en-US" sz="2700" dirty="0" err="1"/>
              <a:t>Baohui</a:t>
            </a:r>
            <a:r>
              <a:rPr lang="en-US" sz="2700" dirty="0"/>
              <a:t> Yang, Qian Guo, Haoran Wang, and </a:t>
            </a:r>
            <a:r>
              <a:rPr lang="en-US" sz="2700" dirty="0" err="1"/>
              <a:t>Xiangquan</a:t>
            </a:r>
            <a:r>
              <a:rPr lang="en-US" sz="2700" dirty="0"/>
              <a:t> Zeng</a:t>
            </a:r>
            <a:br>
              <a:rPr lang="en-IN" dirty="0"/>
            </a:br>
            <a:r>
              <a:rPr lang="en-IN" sz="2700" dirty="0"/>
              <a:t>Remote Sensing 1/14/26</a:t>
            </a:r>
            <a:endParaRPr lang="en-US" sz="27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D1737-AB5D-3A64-EC0A-632A41F735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Presented by Aniv Chakravarty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28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0204F2-8BC1-7938-94BA-E3599535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DC5294-6F86-C892-853E-81671A81C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846" y="1480457"/>
            <a:ext cx="6342590" cy="4696506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Detecting small objects (livestock) on grasslands.</a:t>
            </a:r>
          </a:p>
          <a:p>
            <a:r>
              <a:rPr lang="en-IN" dirty="0"/>
              <a:t>Critical for remote sensing and surveillance cameras for large-scale all weather monitoring.</a:t>
            </a:r>
          </a:p>
          <a:p>
            <a:r>
              <a:rPr lang="en-IN" dirty="0"/>
              <a:t>Computational bottlenecks on high-resolution images (</a:t>
            </a:r>
            <a:r>
              <a:rPr lang="en-US" dirty="0"/>
              <a:t>2560 × 1440)</a:t>
            </a:r>
            <a:r>
              <a:rPr lang="en-IN" dirty="0"/>
              <a:t>.</a:t>
            </a:r>
          </a:p>
          <a:p>
            <a:r>
              <a:rPr lang="en-US" dirty="0"/>
              <a:t>Feature dilution, mismatch of receptive fields and target scales.</a:t>
            </a:r>
          </a:p>
          <a:p>
            <a:r>
              <a:rPr lang="en-US" dirty="0"/>
              <a:t>Cropping and SAHI.</a:t>
            </a:r>
          </a:p>
          <a:p>
            <a:r>
              <a:rPr lang="en-US" dirty="0"/>
              <a:t>SAHI suffers from redundant negative samples and end to end processing leads to 1.82 FPS</a:t>
            </a:r>
          </a:p>
          <a:p>
            <a:r>
              <a:rPr lang="en-US" dirty="0"/>
              <a:t>Efficient coarse-to-fine detection framework (CAMS-AI) with Region Proposal Network to lock in on regions and then process with multi-level slicing to improve allocation of computational resources.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96BE02-A6BC-EC82-AE3A-38F3EDBA2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360" y="1349829"/>
            <a:ext cx="4924486" cy="41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1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2B61-FAB0-3872-BE76-26CBB2F09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Workflow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4749CA6-BDBE-20E1-7260-37870735A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539" y="1174700"/>
            <a:ext cx="9567511" cy="488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0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AB67-19F3-D701-D495-BC731860A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Region Proposal Network and Region of Interest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0B8224-1260-9472-72F2-368EB1460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079" y="1349829"/>
            <a:ext cx="5808909" cy="4695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748AD-55BF-AA9F-1632-B3A5D7DA55EC}"/>
              </a:ext>
            </a:extLst>
          </p:cNvPr>
          <p:cNvSpPr txBox="1"/>
          <p:nvPr/>
        </p:nvSpPr>
        <p:spPr>
          <a:xfrm>
            <a:off x="587141" y="1349829"/>
            <a:ext cx="56500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ResNet18 backbone-based RPN applied on full resolution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PhotoMetricDistortion</a:t>
            </a:r>
            <a:r>
              <a:rPr lang="en-IN" dirty="0"/>
              <a:t> augmentation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Anchor generator adjusted to (4,8)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Trained RPN possesses 14.38M parameters and 78.1 GFLOPs.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Automatic resize to 1344x768 with aspect ratio preserving scaling strategy.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Unsupervised region of interest (</a:t>
            </a:r>
            <a:r>
              <a:rPr lang="en-IN" dirty="0" err="1"/>
              <a:t>RoI</a:t>
            </a:r>
            <a:r>
              <a:rPr lang="en-IN" dirty="0"/>
              <a:t>) selection using DBSCAN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Distance calculation is through Euclidean distance.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Neighborhood</a:t>
            </a:r>
            <a:r>
              <a:rPr lang="en-IN" dirty="0"/>
              <a:t> radius is greater than or equal to the minimum number of datapoints requires to </a:t>
            </a:r>
            <a:r>
              <a:rPr lang="en-IN" dirty="0" err="1"/>
              <a:t>constitue</a:t>
            </a:r>
            <a:r>
              <a:rPr lang="en-IN" dirty="0"/>
              <a:t> a dense region.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416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C23749-D189-DB64-B212-1A42BDA8B9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924" y="1073603"/>
            <a:ext cx="5489212" cy="4695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6596F8-A636-FA5C-0F29-BBC3D1FDA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Multi-level slicing strategy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04219F-2B59-9B05-DC7C-E7C1BD12F97E}"/>
                  </a:ext>
                </a:extLst>
              </p:cNvPr>
              <p:cNvSpPr txBox="1"/>
              <p:nvPr/>
            </p:nvSpPr>
            <p:spPr>
              <a:xfrm>
                <a:off x="452845" y="1088572"/>
                <a:ext cx="5919079" cy="4729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Maintaining input within a “robustness zone” near the original scale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Flexibly select scales at maximum avoidance or redundant slices.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𝑆𝑙𝑖𝑐𝑒𝑠</m:t>
                    </m:r>
                    <m:d>
                      <m:d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d>
                      <m:dPr>
                        <m:begChr m:val="{"/>
                        <m:endChr m:val="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𝐶𝑒𝑛𝑡𝑒𝑟𝑆𝑙𝑖𝑐𝑒</m:t>
                            </m:r>
                            <m:d>
                              <m:dPr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func>
                              <m:funcPr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𝐸𝑥𝑝𝑎𝑛𝑑𝑆𝑙𝑖𝑐𝑒</m:t>
                            </m:r>
                            <m:d>
                              <m:dPr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d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func>
                              <m:funcPr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IN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𝐺𝑟𝑖𝑑𝑆𝑙𝑖𝑐𝑒</m:t>
                            </m:r>
                            <m:d>
                              <m:dPr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</m:d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func>
                              <m:funcPr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eqArr>
                      </m:e>
                    </m:d>
                  </m:oMath>
                </a14:m>
                <a:endParaRPr lang="en-IN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R: Region of Interest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S: Standard slice size (640)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T: Expand Threshold (720) and maximum edge length of </a:t>
                </a:r>
                <a:r>
                  <a:rPr lang="en-US" sz="1600" dirty="0" err="1"/>
                  <a:t>RoI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sz="16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1600" dirty="0"/>
                      <m:t> </m:t>
                    </m:r>
                    <m:f>
                      <m:f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16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16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16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sz="16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16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16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1600" dirty="0"/>
                      <m:t> </m:t>
                    </m:r>
                    <m:f>
                      <m:f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𝑂𝑓𝑓𝑠𝑒𝑡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sSub>
                              <m:sSubPr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ℕ</m:t>
                                    </m:r>
                                  </m:e>
                                  <m:sub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</m:eqArr>
                      </m:e>
                    </m:d>
                  </m:oMath>
                </a14:m>
                <a:endParaRPr lang="en-IN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𝑔𝑟𝑖𝑑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𝑂𝑓𝑓𝑠𝑒𝑡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𝑂𝑓𝑓𝑠𝑒𝑡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e>
                    </m:d>
                  </m:oMath>
                </a14:m>
                <a:endParaRPr lang="en-IN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04219F-2B59-9B05-DC7C-E7C1BD12F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45" y="1088572"/>
                <a:ext cx="5919079" cy="4729308"/>
              </a:xfrm>
              <a:prstGeom prst="rect">
                <a:avLst/>
              </a:prstGeom>
              <a:blipFill>
                <a:blip r:embed="rId3"/>
                <a:stretch>
                  <a:fillRect l="-412" t="-387" r="-14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1016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062CB-9F81-FED7-0C27-0F58F9E1B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E12152-4812-8084-9A0C-8A454F5770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0" y="1819174"/>
            <a:ext cx="6627964" cy="3663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0BF890-97E7-B7D1-C18C-9FB98A114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96741" y="1834081"/>
            <a:ext cx="5506789" cy="36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758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E8DF1-C46F-961B-B4B7-3785DA2C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DBSCAN different radius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437EA5-E2B5-A73C-9180-857E46BBD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146" y="1479949"/>
            <a:ext cx="9547404" cy="461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356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FD317-4A74-31D2-AC31-3B3140947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with baseline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DC79A-A4AD-395A-E1BB-4E8E0608A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C69608-45C2-D684-7E6C-480C4A319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800888"/>
            <a:ext cx="10051857" cy="437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00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35FB7-EDD9-AB42-23EF-6AABFB20A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Qualitative results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E07CA5-8333-DBEA-F389-2D1D3DBB4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71"/>
          <a:stretch>
            <a:fillRect/>
          </a:stretch>
        </p:blipFill>
        <p:spPr>
          <a:xfrm>
            <a:off x="3211775" y="1230881"/>
            <a:ext cx="6151564" cy="497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21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5D48-7CE1-B334-28B4-F5CFE90A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609E3-7403-F16C-DED3-0EE1FF2D6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Extreme target dispersion or high sparsity that fails to meet density criteria on DBSCAN</a:t>
            </a:r>
          </a:p>
          <a:p>
            <a:r>
              <a:rPr lang="en-IN" dirty="0" err="1"/>
              <a:t>RoI</a:t>
            </a:r>
            <a:r>
              <a:rPr lang="en-IN" dirty="0"/>
              <a:t> is dominant computation cost</a:t>
            </a:r>
          </a:p>
          <a:p>
            <a:r>
              <a:rPr lang="en-IN" dirty="0"/>
              <a:t>The performance is in between faster baseline and more precise SAHI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97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CB655-B213-B5EB-8197-AAD2C2EAB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06EC-187D-19F8-9A53-A8C09C1FC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Chen, Z., Chen, Z., Yang, B., Guo, Q., Wang, H., &amp; Zeng, X. (2026). CAMS-AI: A Coarse-to-Fine Framework for Efficient Small Object Detection in High-Resolution Images. </a:t>
            </a:r>
            <a:r>
              <a:rPr lang="en-US" i="1" dirty="0"/>
              <a:t>Remote Sensing</a:t>
            </a:r>
            <a:r>
              <a:rPr lang="en-US" dirty="0"/>
              <a:t>, </a:t>
            </a:r>
            <a:r>
              <a:rPr lang="en-US" i="1" dirty="0"/>
              <a:t>18</a:t>
            </a:r>
            <a:r>
              <a:rPr lang="en-US" dirty="0"/>
              <a:t>(2), 259. https://doi.org/10.3390/rs18020259</a:t>
            </a:r>
          </a:p>
        </p:txBody>
      </p:sp>
    </p:spTree>
    <p:extLst>
      <p:ext uri="{BB962C8B-B14F-4D97-AF65-F5344CB8AC3E}">
        <p14:creationId xmlns:p14="http://schemas.microsoft.com/office/powerpoint/2010/main" val="2391608272"/>
      </p:ext>
    </p:extLst>
  </p:cSld>
  <p:clrMapOvr>
    <a:masterClrMapping/>
  </p:clrMapOvr>
</p:sld>
</file>

<file path=ppt/theme/theme1.xml><?xml version="1.0" encoding="utf-8"?>
<a:theme xmlns:a="http://schemas.openxmlformats.org/drawingml/2006/main" name="covi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vis" id="{E97EAE5A-6ED3-40F8-8572-7C2171E4477C}" vid="{BC0DEF65-8CF8-4D97-943E-B1B9C0AA3E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covis</Template>
  <TotalTime>1280</TotalTime>
  <Words>412</Words>
  <Application>Microsoft Office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covis</vt:lpstr>
      <vt:lpstr>CAMS-AI: A Coarse-to-Fine Framework for Efficient Small Object Detection in High-Resolution Images Zhanqi Chen, Zhao Chen, Baohui Yang, Qian Guo, Haoran Wang, and Xiangquan Zeng Remote Sensing 1/14/26</vt:lpstr>
      <vt:lpstr>Problem</vt:lpstr>
      <vt:lpstr>Workflow</vt:lpstr>
      <vt:lpstr>Region Proposal Network and Region of Interest</vt:lpstr>
      <vt:lpstr>Multi-level slicing strategy</vt:lpstr>
      <vt:lpstr>Results</vt:lpstr>
      <vt:lpstr>DBSCAN different radius</vt:lpstr>
      <vt:lpstr>Comparison with baseline</vt:lpstr>
      <vt:lpstr>Qualitative results</vt:lpstr>
      <vt:lpstr>Limitations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Registration of Point Sets with Large and Uneven Non-Rigid Deformation</dc:title>
  <dc:creator>Maharjan, Amar</dc:creator>
  <cp:lastModifiedBy>Yuan, Xiaohui</cp:lastModifiedBy>
  <cp:revision>25</cp:revision>
  <dcterms:created xsi:type="dcterms:W3CDTF">2022-07-19T22:32:27Z</dcterms:created>
  <dcterms:modified xsi:type="dcterms:W3CDTF">2026-02-16T04:35:48Z</dcterms:modified>
</cp:coreProperties>
</file>